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PartName="/ppt/slides/slide15.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2" r:id="rId3"/>
  </p:sldMasterIdLst>
  <p:notesMasterIdLst>
    <p:notesMasterId r:id="rId4"/>
  </p:notesMasterIdLst>
  <p:sldIdLst>
    <p:sldId id="256" r:id="rId5"/>
    <p:sldId id="257" r:id="rId6"/>
    <p:sldId id="258" r:id="rId7"/>
    <p:sldId id="259" r:id="rId8"/>
    <p:sldId id="260" r:id="rId9"/>
    <p:sldId id="261" r:id="rId10"/>
    <p:sldId id="262" r:id="rId11"/>
    <p:sldId id="263" r:id="rId12"/>
    <p:sldId id="270" r:id="rId19"/>
    <p:sldId id="264" r:id="rId13"/>
    <p:sldId id="265" r:id="rId14"/>
    <p:sldId id="266" r:id="rId15"/>
    <p:sldId id="267" r:id="rId16"/>
    <p:sldId id="268" r:id="rId17"/>
    <p:sldId id="269" r:id="rId18"/>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  <Relationship Id="rId19" Type="http://schemas.openxmlformats.org/officeDocument/2006/relationships/slide" Target="slides/slide1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(15 seconds). Do not start with the company name; let the logo sit on screen while you say the first line of slide 2.</a:t>
            </a:r>
            <a:br>
              <a:rPr lang="en-US"/>
            </a:br>
            <a:r>
              <a:rPr lang="en-US"/>
              <a:t>Tagline: Rescue Every Soul Quickly. ResQ PAWS is building India's integrated pet mobility and rehabilitation ecosystem: engineering, veterinary care, rehabilitation and technology on one connected platform.</a:t>
            </a:r>
            <a:endParaRPr/>
          </a:p>
        </p:txBody>
      </p:sp>
      <p:sp>
        <p:nvSpPr>
          <p:cNvPr id="28" name="Google Shape;2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(30-40 seconds). Not long ago, diabetes carried a heavy stigma. Insulin changed that. It became a condition people manage and live full lives with. Mobility loss carries the same stigma today. Someone is told they can't walk, and people assume the story is over. It isn't. Rehab support breaks that stigma, the way insulin did for diabetes. We see people walk, play and compete again. That is true for people. It should be true for animals too, and that is where ResQ starts.</a:t>
            </a:r>
            <a:br>
              <a:rPr lang="en-US"/>
            </a:br>
            <a:br>
              <a:rPr lang="en-US"/>
            </a:br>
            <a:r>
              <a:rPr lang="en-US"/>
              <a:t>SAY: 'the stigma is curable', not 'the injury is curable'. Never overpromise recovery.</a:t>
            </a:r>
            <a:br>
              <a:rPr lang="en-US"/>
            </a:br>
            <a:r>
              <a:rPr lang="en-US"/>
              <a:t>TO VERIFY: your outline says insulin was first used in 1921. Insulin was discovered in 1921; the first patient was treated in 1922. Leave the year out or phrase it carefully.</a:t>
            </a:r>
            <a:br>
              <a:rPr lang="en-US"/>
            </a:br>
            <a:r>
              <a:rPr lang="en-US"/>
              <a:t>PHOTO: one strong image of a person thriving after mobility loss, licensed or with permission.</a:t>
            </a:r>
            <a:br>
              <a:rPr lang="en-US"/>
            </a:br>
            <a:r>
              <a:rPr lang="en-US"/>
              <a:t>INVESTORS MAY ASK: Why compare mobility loss to diabetes? Is mobility loss really curable?</a:t>
            </a:r>
            <a:endParaRPr/>
          </a:p>
        </p:txBody>
      </p:sp>
      <p:sp>
        <p:nvSpPr>
          <p:cNvPr id="39" name="Google Shape;3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SAY: Joint disorders are not rare exceptions. They are a global epidemic affecting dogs at every stage of life. About one in four to five dogs develops a clinical joint disorder, close to two in five adult dogs have osteoarthritis, and most senior dogs show arthritic degeneration.</a:t>
            </a:r>
            <a:br>
              <a:rPr lang="en-US"/>
            </a:br>
            <a:r>
              <a:rPr lang="en-US"/>
              <a:t>SOURCE: the figures come from the earlier ResQ deck, which cites the American Animal Hospital Association and veterinary research. Add the exact publication and year before you pitch.</a:t>
            </a:r>
            <a:br>
              <a:rPr lang="en-US"/>
            </a:br>
            <a:r>
              <a:rPr lang="en-US"/>
              <a:t>NOTE: this slide replaces the two overlapping stats slides in the earlier deck (25/40/80% and 20-25/37-40/70-80%). It uses the ranges, which are easier to defend.</a:t>
            </a:r>
            <a:br>
              <a:rPr lang="en-US"/>
            </a:br>
            <a:r>
              <a:rPr lang="en-US"/>
              <a:t>INVESTORS MAY ASK: How big is this really, or is it just a few sad cases? Add the number of injured or disabled dogs per year in India when you have a sourced figure.</a:t>
            </a:r>
            <a:endParaRPr/>
          </a:p>
        </p:txBody>
      </p:sp>
      <p:sp>
        <p:nvSpPr>
          <p:cNvPr id="65" name="Google Shape;6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(30-40 seconds). Look at the human side: Paralympians, a whole industry of rehab, role models, funding and insurance. Now look at dogs. A dog that loses mobility gets no affordable wheelchair, no rehab network, no insurance, and it often means euthanasia. But the solution works: dogs in wheelchairs run, play and live happy lives. Bomb-squad and other working dogs have lost legs in the line of duty, and they deserve the same chance. We are not inventing a new market. We are bringing a proven one to the species that has none.</a:t>
            </a:r>
            <a:br>
              <a:rPr lang="en-US"/>
            </a:br>
            <a:br>
              <a:rPr lang="en-US"/>
            </a:br>
            <a:r>
              <a:rPr lang="en-US"/>
              <a:t>PROOF TO HAVE READY: two or three human rehab examples with sources; photos or video of dogs recovering mobility (own or licensed); one real working-dog case (name, source, photo; verify before using); the size of the human rehab market.</a:t>
            </a:r>
            <a:br>
              <a:rPr lang="en-US"/>
            </a:br>
            <a:r>
              <a:rPr lang="en-US"/>
              <a:t>INVESTORS MAY ASK: Who else offers dog rehab or wheelchairs today? (See slide 7 and slide 14.) Why would owners pay for a dog when they cannot afford it for themselves? Are service dogs a real customer segment (police, army and K9 units; validate)?</a:t>
            </a:r>
            <a:endParaRPr/>
          </a:p>
        </p:txBody>
      </p:sp>
      <p:sp>
        <p:nvSpPr>
          <p:cNvPr id="97" name="Google Shape;9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SAY: When we looked closely, we found that owners are not simply searching for a wheelchair. They are searching for a complete support system that stays with them through every stage of recovery: the right specialist, treatment they can afford, rehabilitation that continues, and long-term mobility support.</a:t>
            </a:r>
            <a:br>
              <a:rPr lang="en-US"/>
            </a:br>
            <a:r>
              <a:rPr lang="en-US"/>
              <a:t>This sets up the market failure on the next slide and the platform after it.</a:t>
            </a:r>
            <a:endParaRPr/>
          </a:p>
        </p:txBody>
      </p:sp>
      <p:sp>
        <p:nvSpPr>
          <p:cNvPr id="152" name="Google Shape;15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SAY: Our current competitor is Supertails. It is the scaled player in Indian pet care: products, quick delivery, at-home vets and now clinics. Its revenue grew from about 65 crore rupees in FY24 to about 108 crore in FY25. We are not trying to out-spend them on food and accessories. ResQ is built around mobility: specialists, continuous rehabilitation and affordable care in one subscription.</a:t>
            </a:r>
            <a:br>
              <a:rPr lang="en-US"/>
            </a:br>
            <a:r>
              <a:rPr lang="en-US"/>
              <a:t>FACTS USED: revenue FY24 Rs 64.63 crore and FY25 Rs 108.26 crore, loss Rs 52.47 crore in FY25, about $51M raised in total including a $30M round led by Venturi Partners (Entrackr). Business Standard (Feb 2026): about 15 clinics planned in Bangalore, 60+ dark stores in Mumbai, Delhi and Bangalore, close to one million pet parents, 60 to 70 percent annual growth, and a target of Rs 1,000 crore ARR.</a:t>
            </a:r>
            <a:br>
              <a:rPr lang="en-US"/>
            </a:br>
            <a:r>
              <a:rPr lang="en-US"/>
              <a:t>TO VERIFY BEFORE PITCHING: 'mobility is not part of its stated focus' comes from the articles reviewed, which describe products, clinics, at-home vet care and quick delivery and do not mention physiotherapy or rehabilitation. Check Supertails' current clinic services page, because a clinic could offer physiotherapy without announcing it.</a:t>
            </a:r>
            <a:br>
              <a:rPr lang="en-US"/>
            </a:br>
            <a:r>
              <a:rPr lang="en-US"/>
              <a:t>INVESTORS MAY ASK: Why can't Supertails add rehab next quarter? What do you do that a funded clinic chain cannot? (Answer: specialist network and a rehab programme designed around mobility, not an add-on.)</a:t>
            </a:r>
            <a:endParaRPr/>
          </a:p>
        </p:txBody>
      </p:sp>
      <p:sp>
        <p:nvSpPr>
          <p:cNvPr id="180" name="Google Shape;18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(30-40 seconds). The subscription is the product, and the wheelchair comes with it. We help owners find the right specialist, get a quick and affordable appointment, and keep up rehab so the dog actually recovers. Beyond rehab, we offer grooming, spa and red light therapy, so ResQ becomes the one place for a pet's health and wellbeing.</a:t>
            </a:r>
            <a:br>
              <a:rPr lang="en-US"/>
            </a:br>
            <a:r>
              <a:rPr lang="en-US"/>
              <a:t>KEEP IT TO THREE HEADINGS: Mobility, Care, Wellness. Do not read every feature.</a:t>
            </a:r>
            <a:br>
              <a:rPr lang="en-US"/>
            </a:br>
            <a:r>
              <a:rPr lang="en-US"/>
              <a:t>TO CHECK: your outline lists 'spa, grooming, laser therapy' and your project notes say 'red light therapy'. The slide uses red light therapy and places it under Wellness. Change if needed.</a:t>
            </a:r>
            <a:br>
              <a:rPr lang="en-US"/>
            </a:br>
            <a:r>
              <a:rPr lang="en-US"/>
              <a:t>ADD when ready: wheelchair photo or render, specs, production cost per unit, patent number, 2 to 3 app screens or a demo clip, the list of vets and specialists onboarded, and what a rehab plan looks like week by week.</a:t>
            </a:r>
            <a:br>
              <a:rPr lang="en-US"/>
            </a:br>
            <a:r>
              <a:rPr lang="en-US"/>
              <a:t>INVESTORS MAY ASK: Who manufactures the wheelchair and at what cost? How do you guarantee vet quality? What does a subscriber get in month one?</a:t>
            </a:r>
            <a:endParaRPr/>
          </a:p>
        </p:txBody>
      </p:sp>
      <p:sp>
        <p:nvSpPr>
          <p:cNvPr id="204" name="Google Shape;20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(30 seconds). Today an average owner spends 8,000 to 8,500 rupees a month on healthcare for a pet. With ResQ they spend 4,999 rupees a month, and that already includes the wheelchair, vet care, specialist matching, rehabilitation, medicines, grooming and red light therapy. The wheelchair alone costs 60,000 to 1.8 lakh rupees when imported.</a:t>
            </a:r>
            <a:br>
              <a:rPr lang="en-US"/>
            </a:br>
            <a:r>
              <a:rPr lang="en-US"/>
              <a:t>BILLING PERIOD: the slide says monthly, based on your project notes. Investors ask this first, so confirm it. The 8,000 to 8,500 comparison must also be monthly. Your earlier deck had mobility-impaired pets at 10,000 to 30,000 rupees a month and an average Bengaluru owner at 4,000 to 8,000.</a:t>
            </a:r>
            <a:br>
              <a:rPr lang="en-US"/>
            </a:br>
            <a:r>
              <a:rPr lang="en-US"/>
              <a:t>SOURCE NEEDED: where does 8,000 to 8,500 come from (owner survey, vet data, market report)? Even a 50-owner survey you ran yourself is strong evidence; say how many people you asked.</a:t>
            </a:r>
            <a:br>
              <a:rPr lang="en-US"/>
            </a:br>
            <a:r>
              <a:rPr lang="en-US"/>
              <a:t>'About 40% less' holds: 4,999 is 62.5% of 8,000 and 58.8% of 8,500, so the saving is 37.5% to 41%. The old 3,999 price gave about 50%. If investors push, say 'roughly 40%'.</a:t>
            </a:r>
            <a:br>
              <a:rPr lang="en-US"/>
            </a:br>
            <a:r>
              <a:rPr lang="en-US"/>
              <a:t>WHO PAYS FOR THE WHEELCHAIR: it is now inside the subscription, so its cost must be recovered from subscribers. At 4,999 a month, a wheelchair costing X rupees is paid back in X / (monthly margin) months. Get the production cost per unit and the monthly margin before pitching.</a:t>
            </a:r>
            <a:br>
              <a:rPr lang="en-US"/>
            </a:br>
            <a:r>
              <a:rPr lang="en-US"/>
              <a:t>INVESTORS MAY ASK: Do you make money at 4,999 once the wheelchair is included, and what happens if a subscriber leaves in month three? Add revenue, cost to serve and gross margin per subscriber once you have real numbers.</a:t>
            </a:r>
            <a:endParaRPr/>
          </a:p>
        </p:txBody>
      </p:sp>
      <p:sp>
        <p:nvSpPr>
          <p:cNvPr id="241" name="Google Shape;24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(30-40 seconds). The subscription is the MVP and the core of the business. Owners pay 4,999 rupees a month and get a wheelchair plus care built around mobility. ResQ owns the wheelchair patents, so it can't be copied cheaply. We keep prices low because we buy from pharmaceutical companies at fixed rates and agree fixed fees for doctor appointments. Home food delivery for humans is a proven model. We bring the same to dogs with partners like Pawful, plus grooming companies.</a:t>
            </a:r>
            <a:br>
              <a:rPr lang="en-US"/>
            </a:br>
            <a:r>
              <a:rPr lang="en-US"/>
              <a:t>PROOF TO HAVE READY: cost per wheelchair and who manufactures it; patent number or filing proof; signed or verbal commitments from pharma suppliers, vets, Pawful and grooming partners; how many subscribers the MVP has or is targeting first.</a:t>
            </a:r>
            <a:br>
              <a:rPr lang="en-US"/>
            </a:br>
            <a:r>
              <a:rPr lang="en-US"/>
              <a:t>SHOW THREE REAL LOGOS here when you have them; they are stronger than any paragraph. Only Pawful is named in your files, so the other partner pills are generic.</a:t>
            </a:r>
            <a:br>
              <a:rPr lang="en-US"/>
            </a:br>
            <a:r>
              <a:rPr lang="en-US"/>
              <a:t>NOTE: the earlier deck sold the wheelchair for 15,000 to 20,000 rupees and relied on crowdfunding. This deck follows your latest direction: the wheelchair is included in the 4,999 subscription, and crowdfunding is not mentioned. Retire the old device-sales slides so the story is consistent.</a:t>
            </a:r>
            <a:br>
              <a:rPr lang="en-US"/>
            </a:br>
            <a:r>
              <a:rPr lang="en-US"/>
              <a:t>INVESTORS MAY ASK: Why will partners give you fixed rates? What stops a bigger player such as Supertails from copying you?</a:t>
            </a:r>
            <a:endParaRPr/>
          </a:p>
        </p:txBody>
      </p:sp>
      <p:sp>
        <p:nvSpPr>
          <p:cNvPr id="272" name="Google Shape;27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SAY: 'We expect paid CAC to be near zero, driven by referrals, and we will measure it from the first subscribers.' Say near-zero, never zero. It is more believable. Supertails spends heavily on growth (its FY25 loss was Rs 52 crore on Rs 108 crore revenue), so a referral-led model is a real contrast, but only if the numbers bear it out.</a:t>
            </a:r>
            <a:br>
              <a:rPr lang="en-US"/>
            </a:br>
            <a:r>
              <a:rPr lang="en-US"/>
              <a:t>MATH: 4,999 x 12 = 59,988 rupees of revenue per subscriber per year, if they stay twelve months. This is revenue, not margin. Cost to serve and gross margin per subscriber are NOT in your files; add them before investors ask.</a:t>
            </a:r>
            <a:br>
              <a:rPr lang="en-US"/>
            </a:br>
            <a:r>
              <a:rPr lang="en-US"/>
              <a:t>Partner commissions and bulk pharma margins are upside beyond the subscription and are deliberately not counted here.</a:t>
            </a:r>
            <a:br>
              <a:rPr lang="en-US"/>
            </a:br>
            <a:r>
              <a:rPr lang="en-US"/>
              <a:t>CORRECTION to the earlier deck: its Year 1 table showed Care+, vet and pharmacy rows as one month's revenue, not a year (5,000 x 3,999 = 1,99,95,000 was one month at the old price). Do not reuse that table until it is annualised and consistent with 5,000 subscribers.</a:t>
            </a:r>
            <a:br>
              <a:rPr lang="en-US"/>
            </a:br>
            <a:r>
              <a:rPr lang="en-US"/>
              <a:t>INVESTORS MAY ASK: Is CAC really zero? How long does an owner stay (retention)?</a:t>
            </a:r>
            <a:endParaRPr/>
          </a:p>
        </p:txBody>
      </p:sp>
      <p:sp>
        <p:nvSpPr>
          <p:cNvPr id="320" name="Google Shape;32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(30-40 seconds). Every wheelchair delivered is a story people share, so our paid customer acquisition cost is expected to be near zero, driven by referrals. NGOs and pet communities already run initiatives, and we plug into them.</a:t>
            </a:r>
            <a:br>
              <a:rPr lang="en-US"/>
            </a:br>
            <a:r>
              <a:rPr lang="en-US"/>
              <a:t>TO ADD: MVP status (what is built, what is next) and dated milestones for the next 6 to 12 months. Your files describe the plan to scale the MVP, produce more wheelchairs and onboard vets, but no dates, so none are shown. Which milestones unlock the next round?</a:t>
            </a:r>
            <a:br>
              <a:rPr lang="en-US"/>
            </a:br>
            <a:r>
              <a:rPr lang="en-US"/>
              <a:t>INVESTORS MAY ASK: What will you do with the money in the first 12 months? How many NGOs have committed?</a:t>
            </a:r>
            <a:endParaRPr/>
          </a:p>
        </p:txBody>
      </p:sp>
      <p:sp>
        <p:nvSpPr>
          <p:cNvPr id="339" name="Google Shape;33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SAY: India has about 40 million pets, 74 percent of them dogs. The pet-care market is $841 million today and growing at 23 percent a year. The total potential market for us is $3.6 billion.</a:t>
            </a:r>
            <a:br>
              <a:rPr lang="en-US"/>
            </a:br>
            <a:r>
              <a:rPr lang="en-US"/>
              <a:t>SERVICEABLE MARKET: 40,000 dogs x Rs 4,999 x 12 months = Rs 23.99 crore, about $25 million. Arthritis typically shows up at 3.5 to 4 years of age, and 1 in 5 dogs show radiographic evidence of degenerative joint disease or osteoarthritis.</a:t>
            </a:r>
            <a:br>
              <a:rPr lang="en-US"/>
            </a:br>
            <a:r>
              <a:rPr lang="en-US"/>
              <a:t>SOM: Year 1 target of 6,000 subscribers x Rs 4,999 x 12 = Rs 35.99 crore, about $3.8 million (at roughly Rs 95 per US dollar). Say run-rate, since subscribers ramp up through the year. The price is Rs 4,999 plus GST.</a:t>
            </a:r>
            <a:br>
              <a:rPr lang="en-US"/>
            </a:br>
            <a:r>
              <a:rPr lang="en-US"/>
              <a:t>TO VERIFY: source and year for the $841.13M market size, the $3.6B TAM and the 23% CAGR; where the 40,000-dog SAM figure comes from (launch cities or share of dogs with joint disease); the exchange rate used. Earlier decks used 5,000 subscribers; this one uses 6,000.</a:t>
            </a:r>
            <a:endParaRPr/>
          </a:p>
        </p:txBody>
      </p:sp>
      <p:sp>
        <p:nvSpPr>
          <p:cNvPr id="369" name="Google Shape;3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SAY: Competition will grow, and we plan for it. We expect about eight scaled, funded pet-care players in India by 2030, with a plausible range of six to fourteen. Today there are three: Supertails, Vetic and Heads Up For Tails. Our edge is that mobility is not an add-on for us. It is the identity.</a:t>
            </a:r>
            <a:br>
              <a:rPr lang="en-US"/>
            </a:br>
            <a:r>
              <a:rPr lang="en-US"/>
              <a:t>IMPORTANT, BE HONEST ON STAGE: no research paper publishes a competitor count for Indian pet care. This is a model estimate built from sourced inputs. Say 'we estimate' every time.</a:t>
            </a:r>
            <a:br>
              <a:rPr lang="en-US"/>
            </a:br>
            <a:r>
              <a:rPr lang="en-US"/>
              <a:t>METHOD: (1) Startups. Inc42 reports 500+ pet care startups in India over 15 years, so about 33 a year. Low, base and high cases assume 33, 50 and 70 new startups a year from a base of 500 in 2024, which gives roughly 700, 800 and 920 by 2030. (2) Scale. Of those, only a small share reach scale (funded roughly $25M or more). Today it is 3 of about 570 to 640, about 0.5 percent. We assume that rises to 0.8 percent (low), 1.0 percent (base) or 1.5 percent (high) by 2030, which gives 6, 8 and 14. (3) Mobility. We assume about half of scaled players add a rehab line by 2030. That is a judgement, not a sourced figure.</a:t>
            </a:r>
            <a:br>
              <a:rPr lang="en-US"/>
            </a:br>
            <a:r>
              <a:rPr lang="en-US"/>
              <a:t>THEORY: Gort and Konakayama (NBER Working Paper 297, 1978) find that entry into a new product market rises with the number of firms already in it (the demonstration effect), slows as incumbents build experience and goodwill, and traces a logistic path toward a ceiling set by the pool of potential entrants. Gort and Klepper (1982) add that the count of firms later peaks and then falls in a shakeout. We do not model the shakeout, so the 2031 values are a plateau, not a forecast of decline.</a:t>
            </a:r>
            <a:br>
              <a:rPr lang="en-US"/>
            </a:br>
            <a:r>
              <a:rPr lang="en-US"/>
              <a:t>OTHER COUNTS FOUND (different definitions, do not mix them): Kenresearch lists over 250 players in online pet care and vet platforms and over 500 in veterinary healthcare, with 8 new entrants in the last 5 years; Tracxn lists 316 pet care product startups (May 2026).</a:t>
            </a:r>
            <a:br>
              <a:rPr lang="en-US"/>
            </a:br>
            <a:r>
              <a:rPr lang="en-US"/>
              <a:t>MARKET SIZE DISAGREES: Vyansa says US$755 million in 2024 growing 9.2 percent a year to 2030; Kenresearch says the online platform market is Rs 50 billion in 2025 growing 17.8 percent a year; Inc42 and Market Decipher say 18 to 20 percent a year; IBEF (cited in Entrepreneur, June 2026) says US$3.6 billion in 2024 reaching US$24.8 billion in six years, which implies about 38 percent a year and looks too high. Do not quote one number as settled.</a:t>
            </a:r>
            <a:br>
              <a:rPr lang="en-US"/>
            </a:br>
            <a:r>
              <a:rPr lang="en-US"/>
              <a:t>INVESTORS MAY ASK: Why won't Supertails or Vetic add rehab? What happens when five more funded players arrive? Which of your assumptions would change the answer most? (Answer: the share that reach scale.)</a:t>
            </a:r>
            <a:endParaRPr/>
          </a:p>
        </p:txBody>
      </p:sp>
      <p:sp>
        <p:nvSpPr>
          <p:cNvPr id="400" name="Google Shape;40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(20-30 seconds). We are raising 10 crore rupees to scale the MVP, produce more wheelchairs and onboard vets and specialists. [Say what the first 12 months will deliver and which milestones unlock the next round.] Then close on the tagline and Rani: Rescue Every Soul Quickly.</a:t>
            </a:r>
            <a:br>
              <a:rPr lang="en-US"/>
            </a:br>
            <a:r>
              <a:rPr lang="en-US"/>
              <a:t>ONE NUMBER EVERYWHERE: your outline had both 10 Cr and 20 Cr. This deck uses 10 Cr, as in your project notes. Do not mention the other number anywhere.</a:t>
            </a:r>
            <a:br>
              <a:rPr lang="en-US"/>
            </a:br>
            <a:r>
              <a:rPr lang="en-US"/>
              <a:t>USE OF FUNDS: the six categories come from your outline, but no percentages exist yet, so no pie chart is shown. When you set the split, add a chart that sums to 100% and matches Rs. 10 Cr.</a:t>
            </a:r>
            <a:br>
              <a:rPr lang="en-US"/>
            </a:br>
            <a:r>
              <a:rPr lang="en-US"/>
              <a:t>REHEARSE: What is your margin at 4,999 with a wheelchair included? What if Supertails or Vetic adds rehab? What if a bigger player copies you? Which milestones unlock the next round?</a:t>
            </a:r>
            <a:endParaRPr/>
          </a:p>
        </p:txBody>
      </p:sp>
      <p:sp>
        <p:nvSpPr>
          <p:cNvPr id="424" name="Google Shape;42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Q_COVER">
  <p:cSld name="RESQ_COVER">
    <p:bg>
      <p:bgPr>
        <a:solidFill>
          <a:schemeClr val="dk1"/>
        </a:solidFill>
      </p:bgPr>
    </p:bg>
    <p:spTree>
      <p:nvGrpSpPr>
        <p:cNvPr id="11" name="Shape 11"/>
        <p:cNvGrpSpPr/>
        <p:nvPr/>
      </p:nvGrpSpPr>
      <p:grpSpPr>
        <a:xfrm>
          <a:off x="0" y="0"/>
          <a:ext cx="0" cy="0"/>
          <a:chOff x="0" y="0"/>
          <a:chExt cx="0" cy="0"/>
        </a:xfrm>
      </p:grpSpPr>
      <p:sp>
        <p:nvSpPr>
          <p:cNvPr id="12" name="Google Shape;12;p2"/>
          <p:cNvSpPr txBox="1"/>
          <p:nvPr>
            <p:ph type="title"/>
          </p:nvPr>
        </p:nvSpPr>
        <p:spPr>
          <a:xfrm>
            <a:off x="731520" y="1874520"/>
            <a:ext cx="6309360" cy="246888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3800"/>
              <a:buFont typeface="Arial"/>
              <a:buNone/>
              <a:defRPr b="1" i="0" sz="38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Q_DARK">
  <p:cSld name="RESQ_DARK">
    <p:bg>
      <p:bgPr>
        <a:solidFill>
          <a:schemeClr val="dk1"/>
        </a:solidFill>
      </p:bgPr>
    </p:bg>
    <p:spTree>
      <p:nvGrpSpPr>
        <p:cNvPr id="13" name="Shape 13"/>
        <p:cNvGrpSpPr/>
        <p:nvPr/>
      </p:nvGrpSpPr>
      <p:grpSpPr>
        <a:xfrm>
          <a:off x="0" y="0"/>
          <a:ext cx="0" cy="0"/>
          <a:chOff x="0" y="0"/>
          <a:chExt cx="0" cy="0"/>
        </a:xfrm>
      </p:grpSpPr>
      <p:sp>
        <p:nvSpPr>
          <p:cNvPr id="14" name="Google Shape;14;p3"/>
          <p:cNvSpPr txBox="1"/>
          <p:nvPr>
            <p:ph type="title"/>
          </p:nvPr>
        </p:nvSpPr>
        <p:spPr>
          <a:xfrm>
            <a:off x="548640" y="384048"/>
            <a:ext cx="950976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3000"/>
              <a:buFont typeface="Arial"/>
              <a:buNone/>
              <a:defRPr b="1" i="0" sz="30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3"/>
          <p:cNvSpPr/>
          <p:nvPr/>
        </p:nvSpPr>
        <p:spPr>
          <a:xfrm>
            <a:off x="10360152" y="274320"/>
            <a:ext cx="1463040" cy="73152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resq/logo.png" id="16" name="Google Shape;16;p3"/>
          <p:cNvPicPr preferRelativeResize="0"/>
          <p:nvPr/>
        </p:nvPicPr>
        <p:blipFill rotWithShape="1">
          <a:blip r:embed="rId2">
            <a:alphaModFix/>
          </a:blip>
          <a:srcRect b="0" l="0" r="0" t="0"/>
          <a:stretch/>
        </p:blipFill>
        <p:spPr>
          <a:xfrm>
            <a:off x="10543032" y="365760"/>
            <a:ext cx="1097280" cy="534924"/>
          </a:xfrm>
          <a:prstGeom prst="rect">
            <a:avLst/>
          </a:prstGeom>
          <a:noFill/>
          <a:ln>
            <a:noFill/>
          </a:ln>
        </p:spPr>
      </p:pic>
      <p:sp>
        <p:nvSpPr>
          <p:cNvPr id="17" name="Google Shape;17;p3"/>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4"/>
              </a:buClr>
              <a:buSzPts val="1000"/>
              <a:buFont typeface="Calibri"/>
              <a:buNone/>
            </a:pPr>
            <a:r>
              <a:rPr b="0" i="0" lang="en-US" sz="1000" u="none" cap="none" strike="noStrike">
                <a:solidFill>
                  <a:schemeClr val="accent4"/>
                </a:solidFill>
                <a:latin typeface="Calibri"/>
                <a:ea typeface="Calibri"/>
                <a:cs typeface="Calibri"/>
                <a:sym typeface="Calibri"/>
              </a:rPr>
              <a:t>ResQ PAWS  |  Rescue Every Soul Quickly</a:t>
            </a:r>
            <a:endParaRPr b="0" i="0" sz="1000" u="none" cap="none" strike="noStrike">
              <a:solidFill>
                <a:schemeClr val="dk1"/>
              </a:solidFill>
              <a:latin typeface="Calibri"/>
              <a:ea typeface="Calibri"/>
              <a:cs typeface="Calibri"/>
              <a:sym typeface="Calibri"/>
            </a:endParaRPr>
          </a:p>
        </p:txBody>
      </p:sp>
      <p:sp>
        <p:nvSpPr>
          <p:cNvPr id="18" name="Google Shape;18;p3"/>
          <p:cNvSpPr txBox="1"/>
          <p:nvPr>
            <p:ph idx="12" type="sldNum"/>
          </p:nvPr>
        </p:nvSpPr>
        <p:spPr>
          <a:xfrm>
            <a:off x="10972800" y="6400800"/>
            <a:ext cx="667512"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accent4"/>
                </a:solidFill>
                <a:latin typeface="Calibri"/>
                <a:ea typeface="Calibri"/>
                <a:cs typeface="Calibri"/>
                <a:sym typeface="Calibri"/>
              </a:defRPr>
            </a:lvl1pPr>
            <a:lvl2pPr indent="0" lvl="1" marL="0" marR="0" algn="r">
              <a:spcBef>
                <a:spcPts val="0"/>
              </a:spcBef>
              <a:buNone/>
              <a:defRPr b="0" i="0" sz="1000" u="none" cap="none" strike="noStrike">
                <a:solidFill>
                  <a:schemeClr val="accent4"/>
                </a:solidFill>
                <a:latin typeface="Calibri"/>
                <a:ea typeface="Calibri"/>
                <a:cs typeface="Calibri"/>
                <a:sym typeface="Calibri"/>
              </a:defRPr>
            </a:lvl2pPr>
            <a:lvl3pPr indent="0" lvl="2" marL="0" marR="0" algn="r">
              <a:spcBef>
                <a:spcPts val="0"/>
              </a:spcBef>
              <a:buNone/>
              <a:defRPr b="0" i="0" sz="1000" u="none" cap="none" strike="noStrike">
                <a:solidFill>
                  <a:schemeClr val="accent4"/>
                </a:solidFill>
                <a:latin typeface="Calibri"/>
                <a:ea typeface="Calibri"/>
                <a:cs typeface="Calibri"/>
                <a:sym typeface="Calibri"/>
              </a:defRPr>
            </a:lvl3pPr>
            <a:lvl4pPr indent="0" lvl="3" marL="0" marR="0" algn="r">
              <a:spcBef>
                <a:spcPts val="0"/>
              </a:spcBef>
              <a:buNone/>
              <a:defRPr b="0" i="0" sz="1000" u="none" cap="none" strike="noStrike">
                <a:solidFill>
                  <a:schemeClr val="accent4"/>
                </a:solidFill>
                <a:latin typeface="Calibri"/>
                <a:ea typeface="Calibri"/>
                <a:cs typeface="Calibri"/>
                <a:sym typeface="Calibri"/>
              </a:defRPr>
            </a:lvl4pPr>
            <a:lvl5pPr indent="0" lvl="4" marL="0" marR="0" algn="r">
              <a:spcBef>
                <a:spcPts val="0"/>
              </a:spcBef>
              <a:buNone/>
              <a:defRPr b="0" i="0" sz="1000" u="none" cap="none" strike="noStrike">
                <a:solidFill>
                  <a:schemeClr val="accent4"/>
                </a:solidFill>
                <a:latin typeface="Calibri"/>
                <a:ea typeface="Calibri"/>
                <a:cs typeface="Calibri"/>
                <a:sym typeface="Calibri"/>
              </a:defRPr>
            </a:lvl5pPr>
            <a:lvl6pPr indent="0" lvl="5" marL="0" marR="0" algn="r">
              <a:spcBef>
                <a:spcPts val="0"/>
              </a:spcBef>
              <a:buNone/>
              <a:defRPr b="0" i="0" sz="1000" u="none" cap="none" strike="noStrike">
                <a:solidFill>
                  <a:schemeClr val="accent4"/>
                </a:solidFill>
                <a:latin typeface="Calibri"/>
                <a:ea typeface="Calibri"/>
                <a:cs typeface="Calibri"/>
                <a:sym typeface="Calibri"/>
              </a:defRPr>
            </a:lvl6pPr>
            <a:lvl7pPr indent="0" lvl="6" marL="0" marR="0" algn="r">
              <a:spcBef>
                <a:spcPts val="0"/>
              </a:spcBef>
              <a:buNone/>
              <a:defRPr b="0" i="0" sz="1000" u="none" cap="none" strike="noStrike">
                <a:solidFill>
                  <a:schemeClr val="accent4"/>
                </a:solidFill>
                <a:latin typeface="Calibri"/>
                <a:ea typeface="Calibri"/>
                <a:cs typeface="Calibri"/>
                <a:sym typeface="Calibri"/>
              </a:defRPr>
            </a:lvl7pPr>
            <a:lvl8pPr indent="0" lvl="7" marL="0" marR="0" algn="r">
              <a:spcBef>
                <a:spcPts val="0"/>
              </a:spcBef>
              <a:buNone/>
              <a:defRPr b="0" i="0" sz="1000" u="none" cap="none" strike="noStrike">
                <a:solidFill>
                  <a:schemeClr val="accent4"/>
                </a:solidFill>
                <a:latin typeface="Calibri"/>
                <a:ea typeface="Calibri"/>
                <a:cs typeface="Calibri"/>
                <a:sym typeface="Calibri"/>
              </a:defRPr>
            </a:lvl8pPr>
            <a:lvl9pPr indent="0" lvl="8" marL="0" marR="0" algn="r">
              <a:spcBef>
                <a:spcPts val="0"/>
              </a:spcBef>
              <a:buNone/>
              <a:defRPr b="0" i="0" sz="1000" u="none" cap="none" strike="noStrike">
                <a:solidFill>
                  <a:schemeClr val="accent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Q_LIGHT">
  <p:cSld name="RESQ_LIGHT">
    <p:bg>
      <p:bgPr>
        <a:solidFill>
          <a:schemeClr val="lt1"/>
        </a:solidFill>
      </p:bgPr>
    </p:bg>
    <p:spTree>
      <p:nvGrpSpPr>
        <p:cNvPr id="19" name="Shape 19"/>
        <p:cNvGrpSpPr/>
        <p:nvPr/>
      </p:nvGrpSpPr>
      <p:grpSpPr>
        <a:xfrm>
          <a:off x="0" y="0"/>
          <a:ext cx="0" cy="0"/>
          <a:chOff x="0" y="0"/>
          <a:chExt cx="0" cy="0"/>
        </a:xfrm>
      </p:grpSpPr>
      <p:sp>
        <p:nvSpPr>
          <p:cNvPr id="20" name="Google Shape;20;p4"/>
          <p:cNvSpPr txBox="1"/>
          <p:nvPr>
            <p:ph type="title"/>
          </p:nvPr>
        </p:nvSpPr>
        <p:spPr>
          <a:xfrm>
            <a:off x="548640" y="384048"/>
            <a:ext cx="950976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3000"/>
              <a:buFont typeface="Arial"/>
              <a:buNone/>
              <a:defRPr b="1" i="0" sz="30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pic>
        <p:nvPicPr>
          <p:cNvPr descr="/home/claude/resq/logo.png" id="21" name="Google Shape;21;p4"/>
          <p:cNvPicPr preferRelativeResize="0"/>
          <p:nvPr/>
        </p:nvPicPr>
        <p:blipFill rotWithShape="1">
          <a:blip r:embed="rId2">
            <a:alphaModFix/>
          </a:blip>
          <a:srcRect b="0" l="0" r="0" t="0"/>
          <a:stretch/>
        </p:blipFill>
        <p:spPr>
          <a:xfrm>
            <a:off x="10543032" y="365760"/>
            <a:ext cx="1097280" cy="534924"/>
          </a:xfrm>
          <a:prstGeom prst="rect">
            <a:avLst/>
          </a:prstGeom>
          <a:noFill/>
          <a:ln>
            <a:noFill/>
          </a:ln>
        </p:spPr>
      </p:pic>
      <p:sp>
        <p:nvSpPr>
          <p:cNvPr id="22" name="Google Shape;22;p4"/>
          <p:cNvSpPr/>
          <p:nvPr/>
        </p:nvSpPr>
        <p:spPr>
          <a:xfrm>
            <a:off x="54864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ResQ PAWS  |  Rescue Every Soul Quickly</a:t>
            </a:r>
            <a:endParaRPr b="0" i="0" sz="1000" u="none" cap="none" strike="noStrike">
              <a:solidFill>
                <a:schemeClr val="dk1"/>
              </a:solidFill>
              <a:latin typeface="Calibri"/>
              <a:ea typeface="Calibri"/>
              <a:cs typeface="Calibri"/>
              <a:sym typeface="Calibri"/>
            </a:endParaRPr>
          </a:p>
        </p:txBody>
      </p:sp>
      <p:sp>
        <p:nvSpPr>
          <p:cNvPr id="23" name="Google Shape;23;p4"/>
          <p:cNvSpPr txBox="1"/>
          <p:nvPr>
            <p:ph idx="12" type="sldNum"/>
          </p:nvPr>
        </p:nvSpPr>
        <p:spPr>
          <a:xfrm>
            <a:off x="10972800" y="6400800"/>
            <a:ext cx="667512"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accent6"/>
                </a:solidFill>
                <a:latin typeface="Calibri"/>
                <a:ea typeface="Calibri"/>
                <a:cs typeface="Calibri"/>
                <a:sym typeface="Calibri"/>
              </a:defRPr>
            </a:lvl1pPr>
            <a:lvl2pPr indent="0" lvl="1" marL="0" marR="0" algn="r">
              <a:spcBef>
                <a:spcPts val="0"/>
              </a:spcBef>
              <a:buNone/>
              <a:defRPr b="0" i="0" sz="1000" u="none" cap="none" strike="noStrike">
                <a:solidFill>
                  <a:schemeClr val="accent6"/>
                </a:solidFill>
                <a:latin typeface="Calibri"/>
                <a:ea typeface="Calibri"/>
                <a:cs typeface="Calibri"/>
                <a:sym typeface="Calibri"/>
              </a:defRPr>
            </a:lvl2pPr>
            <a:lvl3pPr indent="0" lvl="2" marL="0" marR="0" algn="r">
              <a:spcBef>
                <a:spcPts val="0"/>
              </a:spcBef>
              <a:buNone/>
              <a:defRPr b="0" i="0" sz="1000" u="none" cap="none" strike="noStrike">
                <a:solidFill>
                  <a:schemeClr val="accent6"/>
                </a:solidFill>
                <a:latin typeface="Calibri"/>
                <a:ea typeface="Calibri"/>
                <a:cs typeface="Calibri"/>
                <a:sym typeface="Calibri"/>
              </a:defRPr>
            </a:lvl3pPr>
            <a:lvl4pPr indent="0" lvl="3" marL="0" marR="0" algn="r">
              <a:spcBef>
                <a:spcPts val="0"/>
              </a:spcBef>
              <a:buNone/>
              <a:defRPr b="0" i="0" sz="1000" u="none" cap="none" strike="noStrike">
                <a:solidFill>
                  <a:schemeClr val="accent6"/>
                </a:solidFill>
                <a:latin typeface="Calibri"/>
                <a:ea typeface="Calibri"/>
                <a:cs typeface="Calibri"/>
                <a:sym typeface="Calibri"/>
              </a:defRPr>
            </a:lvl4pPr>
            <a:lvl5pPr indent="0" lvl="4" marL="0" marR="0" algn="r">
              <a:spcBef>
                <a:spcPts val="0"/>
              </a:spcBef>
              <a:buNone/>
              <a:defRPr b="0" i="0" sz="1000" u="none" cap="none" strike="noStrike">
                <a:solidFill>
                  <a:schemeClr val="accent6"/>
                </a:solidFill>
                <a:latin typeface="Calibri"/>
                <a:ea typeface="Calibri"/>
                <a:cs typeface="Calibri"/>
                <a:sym typeface="Calibri"/>
              </a:defRPr>
            </a:lvl5pPr>
            <a:lvl6pPr indent="0" lvl="5" marL="0" marR="0" algn="r">
              <a:spcBef>
                <a:spcPts val="0"/>
              </a:spcBef>
              <a:buNone/>
              <a:defRPr b="0" i="0" sz="1000" u="none" cap="none" strike="noStrike">
                <a:solidFill>
                  <a:schemeClr val="accent6"/>
                </a:solidFill>
                <a:latin typeface="Calibri"/>
                <a:ea typeface="Calibri"/>
                <a:cs typeface="Calibri"/>
                <a:sym typeface="Calibri"/>
              </a:defRPr>
            </a:lvl6pPr>
            <a:lvl7pPr indent="0" lvl="6" marL="0" marR="0" algn="r">
              <a:spcBef>
                <a:spcPts val="0"/>
              </a:spcBef>
              <a:buNone/>
              <a:defRPr b="0" i="0" sz="1000" u="none" cap="none" strike="noStrike">
                <a:solidFill>
                  <a:schemeClr val="accent6"/>
                </a:solidFill>
                <a:latin typeface="Calibri"/>
                <a:ea typeface="Calibri"/>
                <a:cs typeface="Calibri"/>
                <a:sym typeface="Calibri"/>
              </a:defRPr>
            </a:lvl7pPr>
            <a:lvl8pPr indent="0" lvl="7" marL="0" marR="0" algn="r">
              <a:spcBef>
                <a:spcPts val="0"/>
              </a:spcBef>
              <a:buNone/>
              <a:defRPr b="0" i="0" sz="1000" u="none" cap="none" strike="noStrike">
                <a:solidFill>
                  <a:schemeClr val="accent6"/>
                </a:solidFill>
                <a:latin typeface="Calibri"/>
                <a:ea typeface="Calibri"/>
                <a:cs typeface="Calibri"/>
                <a:sym typeface="Calibri"/>
              </a:defRPr>
            </a:lvl8pPr>
            <a:lvl9pPr indent="0" lvl="8" marL="0" marR="0" algn="r">
              <a:spcBef>
                <a:spcPts val="0"/>
              </a:spcBef>
              <a:buNone/>
              <a:defRPr b="0" i="0" sz="1000" u="none" cap="none" strike="noStrike">
                <a:solidFill>
                  <a:schemeClr val="accent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4" name="Shape 2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0972800" y="6400800"/>
            <a:ext cx="667512"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000" u="none" cap="none" strike="noStrike">
                <a:solidFill>
                  <a:schemeClr val="accent6"/>
                </a:solidFill>
                <a:latin typeface="Calibri"/>
                <a:ea typeface="Calibri"/>
                <a:cs typeface="Calibri"/>
                <a:sym typeface="Calibri"/>
              </a:defRPr>
            </a:lvl1pPr>
            <a:lvl2pPr indent="0" lvl="1" marL="0" marR="0" rtl="0" algn="r">
              <a:spcBef>
                <a:spcPts val="0"/>
              </a:spcBef>
              <a:buNone/>
              <a:defRPr b="0" i="0" sz="1000" u="none" cap="none" strike="noStrike">
                <a:solidFill>
                  <a:schemeClr val="accent6"/>
                </a:solidFill>
                <a:latin typeface="Calibri"/>
                <a:ea typeface="Calibri"/>
                <a:cs typeface="Calibri"/>
                <a:sym typeface="Calibri"/>
              </a:defRPr>
            </a:lvl2pPr>
            <a:lvl3pPr indent="0" lvl="2" marL="0" marR="0" rtl="0" algn="r">
              <a:spcBef>
                <a:spcPts val="0"/>
              </a:spcBef>
              <a:buNone/>
              <a:defRPr b="0" i="0" sz="1000" u="none" cap="none" strike="noStrike">
                <a:solidFill>
                  <a:schemeClr val="accent6"/>
                </a:solidFill>
                <a:latin typeface="Calibri"/>
                <a:ea typeface="Calibri"/>
                <a:cs typeface="Calibri"/>
                <a:sym typeface="Calibri"/>
              </a:defRPr>
            </a:lvl3pPr>
            <a:lvl4pPr indent="0" lvl="3" marL="0" marR="0" rtl="0" algn="r">
              <a:spcBef>
                <a:spcPts val="0"/>
              </a:spcBef>
              <a:buNone/>
              <a:defRPr b="0" i="0" sz="1000" u="none" cap="none" strike="noStrike">
                <a:solidFill>
                  <a:schemeClr val="accent6"/>
                </a:solidFill>
                <a:latin typeface="Calibri"/>
                <a:ea typeface="Calibri"/>
                <a:cs typeface="Calibri"/>
                <a:sym typeface="Calibri"/>
              </a:defRPr>
            </a:lvl4pPr>
            <a:lvl5pPr indent="0" lvl="4" marL="0" marR="0" rtl="0" algn="r">
              <a:spcBef>
                <a:spcPts val="0"/>
              </a:spcBef>
              <a:buNone/>
              <a:defRPr b="0" i="0" sz="1000" u="none" cap="none" strike="noStrike">
                <a:solidFill>
                  <a:schemeClr val="accent6"/>
                </a:solidFill>
                <a:latin typeface="Calibri"/>
                <a:ea typeface="Calibri"/>
                <a:cs typeface="Calibri"/>
                <a:sym typeface="Calibri"/>
              </a:defRPr>
            </a:lvl5pPr>
            <a:lvl6pPr indent="0" lvl="5" marL="0" marR="0" rtl="0" algn="r">
              <a:spcBef>
                <a:spcPts val="0"/>
              </a:spcBef>
              <a:buNone/>
              <a:defRPr b="0" i="0" sz="1000" u="none" cap="none" strike="noStrike">
                <a:solidFill>
                  <a:schemeClr val="accent6"/>
                </a:solidFill>
                <a:latin typeface="Calibri"/>
                <a:ea typeface="Calibri"/>
                <a:cs typeface="Calibri"/>
                <a:sym typeface="Calibri"/>
              </a:defRPr>
            </a:lvl6pPr>
            <a:lvl7pPr indent="0" lvl="6" marL="0" marR="0" rtl="0" algn="r">
              <a:spcBef>
                <a:spcPts val="0"/>
              </a:spcBef>
              <a:buNone/>
              <a:defRPr b="0" i="0" sz="1000" u="none" cap="none" strike="noStrike">
                <a:solidFill>
                  <a:schemeClr val="accent6"/>
                </a:solidFill>
                <a:latin typeface="Calibri"/>
                <a:ea typeface="Calibri"/>
                <a:cs typeface="Calibri"/>
                <a:sym typeface="Calibri"/>
              </a:defRPr>
            </a:lvl7pPr>
            <a:lvl8pPr indent="0" lvl="7" marL="0" marR="0" rtl="0" algn="r">
              <a:spcBef>
                <a:spcPts val="0"/>
              </a:spcBef>
              <a:buNone/>
              <a:defRPr b="0" i="0" sz="1000" u="none" cap="none" strike="noStrike">
                <a:solidFill>
                  <a:schemeClr val="accent6"/>
                </a:solidFill>
                <a:latin typeface="Calibri"/>
                <a:ea typeface="Calibri"/>
                <a:cs typeface="Calibri"/>
                <a:sym typeface="Calibri"/>
              </a:defRPr>
            </a:lvl8pPr>
            <a:lvl9pPr indent="0" lvl="8" marL="0" marR="0" rtl="0" algn="r">
              <a:spcBef>
                <a:spcPts val="0"/>
              </a:spcBef>
              <a:buNone/>
              <a:defRPr b="0" i="0" sz="1000" u="none" cap="none" strike="noStrike">
                <a:solidFill>
                  <a:schemeClr val="accent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4.png"/><Relationship Id="rId4" Type="http://schemas.openxmlformats.org/officeDocument/2006/relationships/image" Target="../media/image4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23.png"/><Relationship Id="rId6" Type="http://schemas.openxmlformats.org/officeDocument/2006/relationships/image" Target="../media/image4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0.png"/><Relationship Id="rId4" Type="http://schemas.openxmlformats.org/officeDocument/2006/relationships/image" Target="../media/image31.png"/><Relationship Id="rId5" Type="http://schemas.openxmlformats.org/officeDocument/2006/relationships/image" Target="../media/image30.png"/><Relationship Id="rId6"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1.png"/><Relationship Id="rId4" Type="http://schemas.openxmlformats.org/officeDocument/2006/relationships/image" Target="../media/image22.png"/><Relationship Id="rId5" Type="http://schemas.openxmlformats.org/officeDocument/2006/relationships/image" Target="../media/image3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2.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6.png"/><Relationship Id="rId4" Type="http://schemas.openxmlformats.org/officeDocument/2006/relationships/image" Target="../media/image41.png"/><Relationship Id="rId5" Type="http://schemas.openxmlformats.org/officeDocument/2006/relationships/image" Target="../media/image22.png"/><Relationship Id="rId6" Type="http://schemas.openxmlformats.org/officeDocument/2006/relationships/image" Target="../media/image33.png"/><Relationship Id="rId7"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9.png"/><Relationship Id="rId4" Type="http://schemas.openxmlformats.org/officeDocument/2006/relationships/image" Target="../media/image36.png"/><Relationship Id="rId5"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3.png"/><Relationship Id="rId4" Type="http://schemas.openxmlformats.org/officeDocument/2006/relationships/image" Target="../media/image30.png"/><Relationship Id="rId5" Type="http://schemas.openxmlformats.org/officeDocument/2006/relationships/image" Target="../media/image34.png"/><Relationship Id="rId6"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1.png"/><Relationship Id="rId4" Type="http://schemas.openxmlformats.org/officeDocument/2006/relationships/image" Target="../media/image40.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6.png"/><Relationship Id="rId8" Type="http://schemas.openxmlformats.org/officeDocument/2006/relationships/image" Target="../media/image4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 name="Shape 29"/>
        <p:cNvGrpSpPr/>
        <p:nvPr/>
      </p:nvGrpSpPr>
      <p:grpSpPr>
        <a:xfrm>
          <a:off x="0" y="0"/>
          <a:ext cx="0" cy="0"/>
          <a:chOff x="0" y="0"/>
          <a:chExt cx="0" cy="0"/>
        </a:xfrm>
      </p:grpSpPr>
      <p:sp>
        <p:nvSpPr>
          <p:cNvPr id="30" name="Google Shape;30;p6"/>
          <p:cNvSpPr txBox="1"/>
          <p:nvPr/>
        </p:nvSpPr>
        <p:spPr>
          <a:xfrm>
            <a:off x="731520" y="1325880"/>
            <a:ext cx="64008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600"/>
              <a:buFont typeface="Calibri"/>
              <a:buNone/>
            </a:pPr>
            <a:r>
              <a:rPr b="1" i="0" lang="en-US" sz="1600" u="none" cap="none" strike="noStrike">
                <a:solidFill>
                  <a:schemeClr val="accent3"/>
                </a:solidFill>
                <a:latin typeface="Calibri"/>
                <a:ea typeface="Calibri"/>
                <a:cs typeface="Calibri"/>
                <a:sym typeface="Calibri"/>
              </a:rPr>
              <a:t>RESCUE EVERY SOUL QUICKLY</a:t>
            </a:r>
            <a:endParaRPr b="0" i="0" sz="1600" u="none" cap="none" strike="noStrike">
              <a:solidFill>
                <a:schemeClr val="dk1"/>
              </a:solidFill>
              <a:latin typeface="Calibri"/>
              <a:ea typeface="Calibri"/>
              <a:cs typeface="Calibri"/>
              <a:sym typeface="Calibri"/>
            </a:endParaRPr>
          </a:p>
        </p:txBody>
      </p:sp>
      <p:sp>
        <p:nvSpPr>
          <p:cNvPr id="31" name="Google Shape;31;p6"/>
          <p:cNvSpPr txBox="1"/>
          <p:nvPr>
            <p:ph type="title"/>
          </p:nvPr>
        </p:nvSpPr>
        <p:spPr>
          <a:xfrm>
            <a:off x="731520" y="1874520"/>
            <a:ext cx="6309360" cy="24688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3800"/>
              <a:buFont typeface="Arial"/>
              <a:buNone/>
            </a:pPr>
            <a:r>
              <a:rPr b="1" lang="en-US" sz="3800">
                <a:solidFill>
                  <a:schemeClr val="lt1"/>
                </a:solidFill>
              </a:rPr>
              <a:t>India's first integrated pet mobility and rehabilitation ecosystem</a:t>
            </a:r>
            <a:endParaRPr sz="3800"/>
          </a:p>
        </p:txBody>
      </p:sp>
      <p:sp>
        <p:nvSpPr>
          <p:cNvPr id="32" name="Google Shape;32;p6"/>
          <p:cNvSpPr txBox="1"/>
          <p:nvPr/>
        </p:nvSpPr>
        <p:spPr>
          <a:xfrm>
            <a:off x="731520" y="4572000"/>
            <a:ext cx="63093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2000"/>
              <a:buFont typeface="Calibri"/>
              <a:buNone/>
            </a:pPr>
            <a:r>
              <a:rPr b="0" i="0" lang="en-US" sz="2000" u="none" cap="none" strike="noStrike">
                <a:solidFill>
                  <a:schemeClr val="accent4"/>
                </a:solidFill>
                <a:latin typeface="Calibri"/>
                <a:ea typeface="Calibri"/>
                <a:cs typeface="Calibri"/>
                <a:sym typeface="Calibri"/>
              </a:rPr>
              <a:t>Innovating quick ways to serve souls at distress</a:t>
            </a:r>
            <a:endParaRPr b="0" i="0" sz="2000" u="none" cap="none" strike="noStrike">
              <a:solidFill>
                <a:schemeClr val="dk1"/>
              </a:solidFill>
              <a:latin typeface="Calibri"/>
              <a:ea typeface="Calibri"/>
              <a:cs typeface="Calibri"/>
              <a:sym typeface="Calibri"/>
            </a:endParaRPr>
          </a:p>
        </p:txBody>
      </p:sp>
      <p:sp>
        <p:nvSpPr>
          <p:cNvPr id="33" name="Google Shape;33;p6"/>
          <p:cNvSpPr txBox="1"/>
          <p:nvPr/>
        </p:nvSpPr>
        <p:spPr>
          <a:xfrm>
            <a:off x="731520" y="5897880"/>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TiE University pitch</a:t>
            </a:r>
            <a:endParaRPr b="0" i="0" sz="1400" u="none" cap="none" strike="noStrike">
              <a:solidFill>
                <a:schemeClr val="dk1"/>
              </a:solidFill>
              <a:latin typeface="Calibri"/>
              <a:ea typeface="Calibri"/>
              <a:cs typeface="Calibri"/>
              <a:sym typeface="Calibri"/>
            </a:endParaRPr>
          </a:p>
        </p:txBody>
      </p:sp>
      <p:pic>
        <p:nvPicPr>
          <p:cNvPr id="34" name="Google Shape;34;p6"/>
          <p:cNvPicPr preferRelativeResize="0"/>
          <p:nvPr/>
        </p:nvPicPr>
        <p:blipFill>
          <a:blip r:embed="rId3">
            <a:alphaModFix/>
          </a:blip>
          <a:stretch>
            <a:fillRect/>
          </a:stretch>
        </p:blipFill>
        <p:spPr>
          <a:xfrm>
            <a:off x="7277938" y="3333700"/>
            <a:ext cx="4326725" cy="2888075"/>
          </a:xfrm>
          <a:prstGeom prst="rect">
            <a:avLst/>
          </a:prstGeom>
          <a:noFill/>
          <a:ln>
            <a:noFill/>
          </a:ln>
        </p:spPr>
      </p:pic>
      <p:pic>
        <p:nvPicPr>
          <p:cNvPr descr="ResQ PAWS logo" id="35" name="Google Shape;35;p6"/>
          <p:cNvPicPr preferRelativeResize="0"/>
          <p:nvPr/>
        </p:nvPicPr>
        <p:blipFill rotWithShape="1">
          <a:blip r:embed="rId4">
            <a:alphaModFix/>
          </a:blip>
          <a:srcRect b="0" l="0" r="0" t="0"/>
          <a:stretch/>
        </p:blipFill>
        <p:spPr>
          <a:xfrm>
            <a:off x="7703940" y="1088153"/>
            <a:ext cx="3474721" cy="169529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7"/>
          <p:cNvSpPr txBox="1"/>
          <p:nvPr>
            <p:ph type="title"/>
          </p:nvPr>
        </p:nvSpPr>
        <p:spPr>
          <a:xfrm>
            <a:off x="548640" y="384048"/>
            <a:ext cx="9509760" cy="1143000"/>
          </a:xfrm>
          <a:prstGeom prst="rect">
            <a:avLst/>
          </a:prstGeom>
          <a:solidFill>
            <a:srgbClr val="15123D"/>
          </a:solid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3000"/>
              <a:buFont typeface="Arial"/>
              <a:buNone/>
            </a:pPr>
            <a:r>
              <a:rPr b="1" lang="en-US" sz="3000">
                <a:solidFill>
                  <a:schemeClr val="lt1"/>
                </a:solidFill>
              </a:rPr>
              <a:t>Mobility loss carries a stigma. Rehab support is what breaks it</a:t>
            </a:r>
            <a:endParaRPr sz="3000"/>
          </a:p>
        </p:txBody>
      </p:sp>
      <p:sp>
        <p:nvSpPr>
          <p:cNvPr id="42" name="Google Shape;42;p7"/>
          <p:cNvSpPr txBox="1"/>
          <p:nvPr/>
        </p:nvSpPr>
        <p:spPr>
          <a:xfrm>
            <a:off x="2438390" y="1885495"/>
            <a:ext cx="45720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300"/>
              <a:buFont typeface="Calibri"/>
              <a:buNone/>
            </a:pPr>
            <a:r>
              <a:rPr b="1" i="0" lang="en-US" sz="1300" u="none" cap="none" strike="noStrike">
                <a:solidFill>
                  <a:schemeClr val="accent3"/>
                </a:solidFill>
                <a:latin typeface="Calibri"/>
                <a:ea typeface="Calibri"/>
                <a:cs typeface="Calibri"/>
                <a:sym typeface="Calibri"/>
              </a:rPr>
              <a:t>DIABETES</a:t>
            </a:r>
            <a:endParaRPr b="0" i="0" sz="1300" u="none" cap="none" strike="noStrike">
              <a:solidFill>
                <a:schemeClr val="dk1"/>
              </a:solidFill>
              <a:latin typeface="Calibri"/>
              <a:ea typeface="Calibri"/>
              <a:cs typeface="Calibri"/>
              <a:sym typeface="Calibri"/>
            </a:endParaRPr>
          </a:p>
        </p:txBody>
      </p:sp>
      <p:sp>
        <p:nvSpPr>
          <p:cNvPr id="43" name="Google Shape;43;p7"/>
          <p:cNvSpPr/>
          <p:nvPr/>
        </p:nvSpPr>
        <p:spPr>
          <a:xfrm>
            <a:off x="2438390" y="2269543"/>
            <a:ext cx="1920300" cy="960000"/>
          </a:xfrm>
          <a:prstGeom prst="roundRect">
            <a:avLst>
              <a:gd fmla="val 11429"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7"/>
          <p:cNvSpPr txBox="1"/>
          <p:nvPr/>
        </p:nvSpPr>
        <p:spPr>
          <a:xfrm>
            <a:off x="2438390" y="2269543"/>
            <a:ext cx="1920300" cy="9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000"/>
              <a:buFont typeface="Calibri"/>
              <a:buNone/>
            </a:pPr>
            <a:r>
              <a:rPr b="1" i="0" lang="en-US" sz="2000" u="none" cap="none" strike="noStrike">
                <a:solidFill>
                  <a:schemeClr val="lt1"/>
                </a:solidFill>
                <a:latin typeface="Calibri"/>
                <a:ea typeface="Calibri"/>
                <a:cs typeface="Calibri"/>
                <a:sym typeface="Calibri"/>
              </a:rPr>
              <a:t>Stigma</a:t>
            </a:r>
            <a:endParaRPr b="0" i="0" sz="2000" u="none" cap="none" strike="noStrike">
              <a:solidFill>
                <a:schemeClr val="dk1"/>
              </a:solidFill>
              <a:latin typeface="Calibri"/>
              <a:ea typeface="Calibri"/>
              <a:cs typeface="Calibri"/>
              <a:sym typeface="Calibri"/>
            </a:endParaRPr>
          </a:p>
        </p:txBody>
      </p:sp>
      <p:sp>
        <p:nvSpPr>
          <p:cNvPr id="45" name="Google Shape;45;p7"/>
          <p:cNvSpPr/>
          <p:nvPr/>
        </p:nvSpPr>
        <p:spPr>
          <a:xfrm>
            <a:off x="4395206" y="2607871"/>
            <a:ext cx="292500" cy="274200"/>
          </a:xfrm>
          <a:prstGeom prst="right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7"/>
          <p:cNvSpPr/>
          <p:nvPr/>
        </p:nvSpPr>
        <p:spPr>
          <a:xfrm>
            <a:off x="4770110" y="2269543"/>
            <a:ext cx="1920300" cy="960000"/>
          </a:xfrm>
          <a:prstGeom prst="roundRect">
            <a:avLst>
              <a:gd fmla="val 11429"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7"/>
          <p:cNvSpPr txBox="1"/>
          <p:nvPr/>
        </p:nvSpPr>
        <p:spPr>
          <a:xfrm>
            <a:off x="4770110" y="2269543"/>
            <a:ext cx="1920300" cy="9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000"/>
              <a:buFont typeface="Calibri"/>
              <a:buNone/>
            </a:pPr>
            <a:r>
              <a:rPr b="1" i="0" lang="en-US" sz="2000" u="none" cap="none" strike="noStrike">
                <a:solidFill>
                  <a:schemeClr val="lt1"/>
                </a:solidFill>
                <a:latin typeface="Calibri"/>
                <a:ea typeface="Calibri"/>
                <a:cs typeface="Calibri"/>
                <a:sym typeface="Calibri"/>
              </a:rPr>
              <a:t>Insulin</a:t>
            </a:r>
            <a:endParaRPr b="0" i="0" sz="2000" u="none" cap="none" strike="noStrike">
              <a:solidFill>
                <a:schemeClr val="dk1"/>
              </a:solidFill>
              <a:latin typeface="Calibri"/>
              <a:ea typeface="Calibri"/>
              <a:cs typeface="Calibri"/>
              <a:sym typeface="Calibri"/>
            </a:endParaRPr>
          </a:p>
        </p:txBody>
      </p:sp>
      <p:sp>
        <p:nvSpPr>
          <p:cNvPr id="48" name="Google Shape;48;p7"/>
          <p:cNvSpPr/>
          <p:nvPr/>
        </p:nvSpPr>
        <p:spPr>
          <a:xfrm>
            <a:off x="6726926" y="2607871"/>
            <a:ext cx="292500" cy="274200"/>
          </a:xfrm>
          <a:prstGeom prst="right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7"/>
          <p:cNvSpPr/>
          <p:nvPr/>
        </p:nvSpPr>
        <p:spPr>
          <a:xfrm>
            <a:off x="7101830" y="2269543"/>
            <a:ext cx="1920300" cy="960000"/>
          </a:xfrm>
          <a:prstGeom prst="roundRect">
            <a:avLst>
              <a:gd fmla="val 11429"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7"/>
          <p:cNvSpPr txBox="1"/>
          <p:nvPr/>
        </p:nvSpPr>
        <p:spPr>
          <a:xfrm>
            <a:off x="7101830" y="2269543"/>
            <a:ext cx="1920300" cy="9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Normal life</a:t>
            </a:r>
            <a:endParaRPr b="0" i="0" sz="2000" u="none" cap="none" strike="noStrike">
              <a:solidFill>
                <a:schemeClr val="dk1"/>
              </a:solidFill>
              <a:latin typeface="Calibri"/>
              <a:ea typeface="Calibri"/>
              <a:cs typeface="Calibri"/>
              <a:sym typeface="Calibri"/>
            </a:endParaRPr>
          </a:p>
        </p:txBody>
      </p:sp>
      <p:sp>
        <p:nvSpPr>
          <p:cNvPr id="51" name="Google Shape;51;p7"/>
          <p:cNvSpPr txBox="1"/>
          <p:nvPr/>
        </p:nvSpPr>
        <p:spPr>
          <a:xfrm>
            <a:off x="2438390" y="3577135"/>
            <a:ext cx="45720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300"/>
              <a:buFont typeface="Calibri"/>
              <a:buNone/>
            </a:pPr>
            <a:r>
              <a:rPr b="1" i="0" lang="en-US" sz="1300" u="none" cap="none" strike="noStrike">
                <a:solidFill>
                  <a:schemeClr val="accent3"/>
                </a:solidFill>
                <a:latin typeface="Calibri"/>
                <a:ea typeface="Calibri"/>
                <a:cs typeface="Calibri"/>
                <a:sym typeface="Calibri"/>
              </a:rPr>
              <a:t>MOBILITY LOSS</a:t>
            </a:r>
            <a:endParaRPr b="0" i="0" sz="1300" u="none" cap="none" strike="noStrike">
              <a:solidFill>
                <a:schemeClr val="dk1"/>
              </a:solidFill>
              <a:latin typeface="Calibri"/>
              <a:ea typeface="Calibri"/>
              <a:cs typeface="Calibri"/>
              <a:sym typeface="Calibri"/>
            </a:endParaRPr>
          </a:p>
        </p:txBody>
      </p:sp>
      <p:sp>
        <p:nvSpPr>
          <p:cNvPr id="52" name="Google Shape;52;p7"/>
          <p:cNvSpPr/>
          <p:nvPr/>
        </p:nvSpPr>
        <p:spPr>
          <a:xfrm>
            <a:off x="2438390" y="3961183"/>
            <a:ext cx="1920300" cy="960000"/>
          </a:xfrm>
          <a:prstGeom prst="roundRect">
            <a:avLst>
              <a:gd fmla="val 11429"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7"/>
          <p:cNvSpPr txBox="1"/>
          <p:nvPr/>
        </p:nvSpPr>
        <p:spPr>
          <a:xfrm>
            <a:off x="2438390" y="3961183"/>
            <a:ext cx="1920300" cy="9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000"/>
              <a:buFont typeface="Calibri"/>
              <a:buNone/>
            </a:pPr>
            <a:r>
              <a:rPr b="1" i="0" lang="en-US" sz="2000" u="none" cap="none" strike="noStrike">
                <a:solidFill>
                  <a:schemeClr val="lt1"/>
                </a:solidFill>
                <a:latin typeface="Calibri"/>
                <a:ea typeface="Calibri"/>
                <a:cs typeface="Calibri"/>
                <a:sym typeface="Calibri"/>
              </a:rPr>
              <a:t>Stigma</a:t>
            </a:r>
            <a:endParaRPr b="0" i="0" sz="2000" u="none" cap="none" strike="noStrike">
              <a:solidFill>
                <a:schemeClr val="dk1"/>
              </a:solidFill>
              <a:latin typeface="Calibri"/>
              <a:ea typeface="Calibri"/>
              <a:cs typeface="Calibri"/>
              <a:sym typeface="Calibri"/>
            </a:endParaRPr>
          </a:p>
        </p:txBody>
      </p:sp>
      <p:sp>
        <p:nvSpPr>
          <p:cNvPr id="54" name="Google Shape;54;p7"/>
          <p:cNvSpPr/>
          <p:nvPr/>
        </p:nvSpPr>
        <p:spPr>
          <a:xfrm>
            <a:off x="4395206" y="4299511"/>
            <a:ext cx="292500" cy="274200"/>
          </a:xfrm>
          <a:prstGeom prst="right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7"/>
          <p:cNvSpPr/>
          <p:nvPr/>
        </p:nvSpPr>
        <p:spPr>
          <a:xfrm>
            <a:off x="4770110" y="3961183"/>
            <a:ext cx="1920300" cy="960000"/>
          </a:xfrm>
          <a:prstGeom prst="roundRect">
            <a:avLst>
              <a:gd fmla="val 11429"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7"/>
          <p:cNvSpPr txBox="1"/>
          <p:nvPr/>
        </p:nvSpPr>
        <p:spPr>
          <a:xfrm>
            <a:off x="4770110" y="3961183"/>
            <a:ext cx="1920300" cy="9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000"/>
              <a:buFont typeface="Calibri"/>
              <a:buNone/>
            </a:pPr>
            <a:r>
              <a:rPr b="1" i="0" lang="en-US" sz="2000" u="none" cap="none" strike="noStrike">
                <a:solidFill>
                  <a:schemeClr val="lt1"/>
                </a:solidFill>
                <a:latin typeface="Calibri"/>
                <a:ea typeface="Calibri"/>
                <a:cs typeface="Calibri"/>
                <a:sym typeface="Calibri"/>
              </a:rPr>
              <a:t>Rehab support</a:t>
            </a:r>
            <a:endParaRPr b="0" i="0" sz="2000" u="none" cap="none" strike="noStrike">
              <a:solidFill>
                <a:schemeClr val="dk1"/>
              </a:solidFill>
              <a:latin typeface="Calibri"/>
              <a:ea typeface="Calibri"/>
              <a:cs typeface="Calibri"/>
              <a:sym typeface="Calibri"/>
            </a:endParaRPr>
          </a:p>
        </p:txBody>
      </p:sp>
      <p:sp>
        <p:nvSpPr>
          <p:cNvPr id="57" name="Google Shape;57;p7"/>
          <p:cNvSpPr/>
          <p:nvPr/>
        </p:nvSpPr>
        <p:spPr>
          <a:xfrm>
            <a:off x="6726926" y="4299511"/>
            <a:ext cx="292500" cy="274200"/>
          </a:xfrm>
          <a:prstGeom prst="right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7"/>
          <p:cNvSpPr/>
          <p:nvPr/>
        </p:nvSpPr>
        <p:spPr>
          <a:xfrm>
            <a:off x="7101830" y="3961183"/>
            <a:ext cx="1920300" cy="960000"/>
          </a:xfrm>
          <a:prstGeom prst="roundRect">
            <a:avLst>
              <a:gd fmla="val 11429"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7"/>
          <p:cNvSpPr txBox="1"/>
          <p:nvPr/>
        </p:nvSpPr>
        <p:spPr>
          <a:xfrm>
            <a:off x="7101830" y="3961183"/>
            <a:ext cx="1920300" cy="9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Normal life</a:t>
            </a:r>
            <a:endParaRPr b="0" i="0" sz="2000" u="none" cap="none" strike="noStrike">
              <a:solidFill>
                <a:schemeClr val="dk1"/>
              </a:solidFill>
              <a:latin typeface="Calibri"/>
              <a:ea typeface="Calibri"/>
              <a:cs typeface="Calibri"/>
              <a:sym typeface="Calibri"/>
            </a:endParaRPr>
          </a:p>
        </p:txBody>
      </p:sp>
      <p:sp>
        <p:nvSpPr>
          <p:cNvPr id="60" name="Google Shape;60;p7"/>
          <p:cNvSpPr txBox="1"/>
          <p:nvPr/>
        </p:nvSpPr>
        <p:spPr>
          <a:xfrm>
            <a:off x="2438390" y="5268775"/>
            <a:ext cx="73152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4000"/>
              <a:buFont typeface="Arial"/>
              <a:buNone/>
            </a:pPr>
            <a:r>
              <a:rPr b="1" i="0" lang="en-US" sz="4000" u="none" cap="none" strike="noStrike">
                <a:solidFill>
                  <a:schemeClr val="accent3"/>
                </a:solidFill>
                <a:latin typeface="Arial"/>
                <a:ea typeface="Arial"/>
                <a:cs typeface="Arial"/>
                <a:sym typeface="Arial"/>
              </a:rPr>
              <a:t>The stigma is curable.</a:t>
            </a:r>
            <a:endParaRPr b="0" i="0" sz="4000" u="none" cap="none" strike="noStrike">
              <a:solidFill>
                <a:schemeClr val="dk1"/>
              </a:solidFill>
              <a:latin typeface="Calibri"/>
              <a:ea typeface="Calibri"/>
              <a:cs typeface="Calibri"/>
              <a:sym typeface="Calibri"/>
            </a:endParaRPr>
          </a:p>
        </p:txBody>
      </p:sp>
      <p:sp>
        <p:nvSpPr>
          <p:cNvPr id="61" name="Google Shape;61;p7"/>
          <p:cNvSpPr txBox="1"/>
          <p:nvPr>
            <p:ph idx="4294967295" type="sldNum"/>
          </p:nvPr>
        </p:nvSpPr>
        <p:spPr>
          <a:xfrm>
            <a:off x="1097280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4"/>
                </a:solidFill>
                <a:latin typeface="Calibri"/>
                <a:ea typeface="Calibri"/>
                <a:cs typeface="Calibri"/>
                <a:sym typeface="Calibri"/>
              </a:rPr>
              <a:t>‹#›</a:t>
            </a:fld>
            <a:endParaRPr b="0" i="0" sz="1000" u="none" cap="none" strike="noStrike">
              <a:solidFill>
                <a:schemeClr val="accent4"/>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8"/>
          <p:cNvSpPr txBox="1"/>
          <p:nvPr>
            <p:ph type="title"/>
          </p:nvPr>
        </p:nvSpPr>
        <p:spPr>
          <a:xfrm>
            <a:off x="548640" y="384048"/>
            <a:ext cx="950976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A crisis hidden in plain sight: joint disorders affect dogs at every stage of life</a:t>
            </a:r>
            <a:endParaRPr sz="3000"/>
          </a:p>
        </p:txBody>
      </p:sp>
      <p:sp>
        <p:nvSpPr>
          <p:cNvPr id="68" name="Google Shape;68;p8"/>
          <p:cNvSpPr/>
          <p:nvPr/>
        </p:nvSpPr>
        <p:spPr>
          <a:xfrm>
            <a:off x="548640" y="1828800"/>
            <a:ext cx="2560320" cy="3429000"/>
          </a:xfrm>
          <a:prstGeom prst="roundRect">
            <a:avLst>
              <a:gd fmla="val 428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8"/>
          <p:cNvSpPr/>
          <p:nvPr/>
        </p:nvSpPr>
        <p:spPr>
          <a:xfrm>
            <a:off x="822960" y="2103120"/>
            <a:ext cx="594360" cy="594360"/>
          </a:xfrm>
          <a:prstGeom prst="ellipse">
            <a:avLst/>
          </a:prstGeom>
          <a:solidFill>
            <a:srgbClr val="2F2A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aw icon" id="70" name="Google Shape;70;p8"/>
          <p:cNvPicPr preferRelativeResize="0"/>
          <p:nvPr/>
        </p:nvPicPr>
        <p:blipFill rotWithShape="1">
          <a:blip r:embed="rId3">
            <a:alphaModFix/>
          </a:blip>
          <a:srcRect b="0" l="0" r="0" t="0"/>
          <a:stretch/>
        </p:blipFill>
        <p:spPr>
          <a:xfrm>
            <a:off x="971550" y="2251710"/>
            <a:ext cx="297180" cy="297180"/>
          </a:xfrm>
          <a:prstGeom prst="rect">
            <a:avLst/>
          </a:prstGeom>
          <a:noFill/>
          <a:ln>
            <a:noFill/>
          </a:ln>
        </p:spPr>
      </p:pic>
      <p:sp>
        <p:nvSpPr>
          <p:cNvPr id="71" name="Google Shape;71;p8"/>
          <p:cNvSpPr txBox="1"/>
          <p:nvPr/>
        </p:nvSpPr>
        <p:spPr>
          <a:xfrm>
            <a:off x="822960" y="2880360"/>
            <a:ext cx="21031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4000"/>
              <a:buFont typeface="Arial"/>
              <a:buNone/>
            </a:pPr>
            <a:r>
              <a:rPr b="1" i="0" lang="en-US" sz="4000" u="none" cap="none" strike="noStrike">
                <a:solidFill>
                  <a:schemeClr val="accent1"/>
                </a:solidFill>
                <a:latin typeface="Arial"/>
                <a:ea typeface="Arial"/>
                <a:cs typeface="Arial"/>
                <a:sym typeface="Arial"/>
              </a:rPr>
              <a:t>20–25%</a:t>
            </a:r>
            <a:endParaRPr b="0" i="0" sz="4000" u="none" cap="none" strike="noStrike">
              <a:solidFill>
                <a:schemeClr val="dk1"/>
              </a:solidFill>
              <a:latin typeface="Calibri"/>
              <a:ea typeface="Calibri"/>
              <a:cs typeface="Calibri"/>
              <a:sym typeface="Calibri"/>
            </a:endParaRPr>
          </a:p>
        </p:txBody>
      </p:sp>
      <p:sp>
        <p:nvSpPr>
          <p:cNvPr id="72" name="Google Shape;72;p8"/>
          <p:cNvSpPr txBox="1"/>
          <p:nvPr/>
        </p:nvSpPr>
        <p:spPr>
          <a:xfrm>
            <a:off x="822960" y="3657600"/>
            <a:ext cx="2103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All dogs</a:t>
            </a:r>
            <a:endParaRPr b="0" i="0" sz="2000" u="none" cap="none" strike="noStrike">
              <a:solidFill>
                <a:schemeClr val="dk1"/>
              </a:solidFill>
              <a:latin typeface="Calibri"/>
              <a:ea typeface="Calibri"/>
              <a:cs typeface="Calibri"/>
              <a:sym typeface="Calibri"/>
            </a:endParaRPr>
          </a:p>
        </p:txBody>
      </p:sp>
      <p:sp>
        <p:nvSpPr>
          <p:cNvPr id="73" name="Google Shape;73;p8"/>
          <p:cNvSpPr txBox="1"/>
          <p:nvPr/>
        </p:nvSpPr>
        <p:spPr>
          <a:xfrm>
            <a:off x="822960" y="4114800"/>
            <a:ext cx="21031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Experience clinical joint disorders during their lifetime</a:t>
            </a:r>
            <a:endParaRPr b="0" i="0" sz="1500" u="none" cap="none" strike="noStrike">
              <a:solidFill>
                <a:schemeClr val="dk1"/>
              </a:solidFill>
              <a:latin typeface="Calibri"/>
              <a:ea typeface="Calibri"/>
              <a:cs typeface="Calibri"/>
              <a:sym typeface="Calibri"/>
            </a:endParaRPr>
          </a:p>
        </p:txBody>
      </p:sp>
      <p:sp>
        <p:nvSpPr>
          <p:cNvPr id="74" name="Google Shape;74;p8"/>
          <p:cNvSpPr/>
          <p:nvPr/>
        </p:nvSpPr>
        <p:spPr>
          <a:xfrm>
            <a:off x="3383280" y="1828800"/>
            <a:ext cx="2560320" cy="3429000"/>
          </a:xfrm>
          <a:prstGeom prst="roundRect">
            <a:avLst>
              <a:gd fmla="val 428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a:off x="3657600" y="2103120"/>
            <a:ext cx="594360" cy="594360"/>
          </a:xfrm>
          <a:prstGeom prst="ellipse">
            <a:avLst/>
          </a:prstGeom>
          <a:solidFill>
            <a:srgbClr val="2F2A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Bone icon" id="76" name="Google Shape;76;p8"/>
          <p:cNvPicPr preferRelativeResize="0"/>
          <p:nvPr/>
        </p:nvPicPr>
        <p:blipFill rotWithShape="1">
          <a:blip r:embed="rId4">
            <a:alphaModFix/>
          </a:blip>
          <a:srcRect b="0" l="0" r="0" t="0"/>
          <a:stretch/>
        </p:blipFill>
        <p:spPr>
          <a:xfrm>
            <a:off x="3806190" y="2251710"/>
            <a:ext cx="297180" cy="297180"/>
          </a:xfrm>
          <a:prstGeom prst="rect">
            <a:avLst/>
          </a:prstGeom>
          <a:noFill/>
          <a:ln>
            <a:noFill/>
          </a:ln>
        </p:spPr>
      </p:pic>
      <p:sp>
        <p:nvSpPr>
          <p:cNvPr id="77" name="Google Shape;77;p8"/>
          <p:cNvSpPr txBox="1"/>
          <p:nvPr/>
        </p:nvSpPr>
        <p:spPr>
          <a:xfrm>
            <a:off x="3657600" y="2880360"/>
            <a:ext cx="21031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4000"/>
              <a:buFont typeface="Arial"/>
              <a:buNone/>
            </a:pPr>
            <a:r>
              <a:rPr b="1" i="0" lang="en-US" sz="4000" u="none" cap="none" strike="noStrike">
                <a:solidFill>
                  <a:schemeClr val="accent1"/>
                </a:solidFill>
                <a:latin typeface="Arial"/>
                <a:ea typeface="Arial"/>
                <a:cs typeface="Arial"/>
                <a:sym typeface="Arial"/>
              </a:rPr>
              <a:t>37–40%</a:t>
            </a:r>
            <a:endParaRPr b="0" i="0" sz="4000" u="none" cap="none" strike="noStrike">
              <a:solidFill>
                <a:schemeClr val="dk1"/>
              </a:solidFill>
              <a:latin typeface="Calibri"/>
              <a:ea typeface="Calibri"/>
              <a:cs typeface="Calibri"/>
              <a:sym typeface="Calibri"/>
            </a:endParaRPr>
          </a:p>
        </p:txBody>
      </p:sp>
      <p:sp>
        <p:nvSpPr>
          <p:cNvPr id="78" name="Google Shape;78;p8"/>
          <p:cNvSpPr txBox="1"/>
          <p:nvPr/>
        </p:nvSpPr>
        <p:spPr>
          <a:xfrm>
            <a:off x="3657600" y="3657600"/>
            <a:ext cx="2103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Adult dogs</a:t>
            </a:r>
            <a:endParaRPr b="0" i="0" sz="2000" u="none" cap="none" strike="noStrike">
              <a:solidFill>
                <a:schemeClr val="dk1"/>
              </a:solidFill>
              <a:latin typeface="Calibri"/>
              <a:ea typeface="Calibri"/>
              <a:cs typeface="Calibri"/>
              <a:sym typeface="Calibri"/>
            </a:endParaRPr>
          </a:p>
        </p:txBody>
      </p:sp>
      <p:sp>
        <p:nvSpPr>
          <p:cNvPr id="79" name="Google Shape;79;p8"/>
          <p:cNvSpPr txBox="1"/>
          <p:nvPr/>
        </p:nvSpPr>
        <p:spPr>
          <a:xfrm>
            <a:off x="3657600" y="4114800"/>
            <a:ext cx="21031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Estimated to suffer from osteoarthritis</a:t>
            </a:r>
            <a:endParaRPr b="0" i="0" sz="1500" u="none" cap="none" strike="noStrike">
              <a:solidFill>
                <a:schemeClr val="dk1"/>
              </a:solidFill>
              <a:latin typeface="Calibri"/>
              <a:ea typeface="Calibri"/>
              <a:cs typeface="Calibri"/>
              <a:sym typeface="Calibri"/>
            </a:endParaRPr>
          </a:p>
        </p:txBody>
      </p:sp>
      <p:sp>
        <p:nvSpPr>
          <p:cNvPr id="80" name="Google Shape;80;p8"/>
          <p:cNvSpPr/>
          <p:nvPr/>
        </p:nvSpPr>
        <p:spPr>
          <a:xfrm>
            <a:off x="6217920" y="1828800"/>
            <a:ext cx="2560320" cy="3429000"/>
          </a:xfrm>
          <a:prstGeom prst="roundRect">
            <a:avLst>
              <a:gd fmla="val 428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a:off x="6492240" y="2103120"/>
            <a:ext cx="594360" cy="594360"/>
          </a:xfrm>
          <a:prstGeom prst="ellipse">
            <a:avLst/>
          </a:prstGeom>
          <a:solidFill>
            <a:srgbClr val="2F2A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urglassHalf icon" id="82" name="Google Shape;82;p8"/>
          <p:cNvPicPr preferRelativeResize="0"/>
          <p:nvPr/>
        </p:nvPicPr>
        <p:blipFill rotWithShape="1">
          <a:blip r:embed="rId5">
            <a:alphaModFix/>
          </a:blip>
          <a:srcRect b="0" l="0" r="0" t="0"/>
          <a:stretch/>
        </p:blipFill>
        <p:spPr>
          <a:xfrm>
            <a:off x="6640830" y="2251710"/>
            <a:ext cx="297180" cy="297180"/>
          </a:xfrm>
          <a:prstGeom prst="rect">
            <a:avLst/>
          </a:prstGeom>
          <a:noFill/>
          <a:ln>
            <a:noFill/>
          </a:ln>
        </p:spPr>
      </p:pic>
      <p:sp>
        <p:nvSpPr>
          <p:cNvPr id="83" name="Google Shape;83;p8"/>
          <p:cNvSpPr txBox="1"/>
          <p:nvPr/>
        </p:nvSpPr>
        <p:spPr>
          <a:xfrm>
            <a:off x="6492240" y="2880360"/>
            <a:ext cx="21031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4000"/>
              <a:buFont typeface="Arial"/>
              <a:buNone/>
            </a:pPr>
            <a:r>
              <a:rPr b="1" i="0" lang="en-US" sz="4000" u="none" cap="none" strike="noStrike">
                <a:solidFill>
                  <a:schemeClr val="accent1"/>
                </a:solidFill>
                <a:latin typeface="Arial"/>
                <a:ea typeface="Arial"/>
                <a:cs typeface="Arial"/>
                <a:sym typeface="Arial"/>
              </a:rPr>
              <a:t>70–80%</a:t>
            </a:r>
            <a:endParaRPr b="0" i="0" sz="4000" u="none" cap="none" strike="noStrike">
              <a:solidFill>
                <a:schemeClr val="dk1"/>
              </a:solidFill>
              <a:latin typeface="Calibri"/>
              <a:ea typeface="Calibri"/>
              <a:cs typeface="Calibri"/>
              <a:sym typeface="Calibri"/>
            </a:endParaRPr>
          </a:p>
        </p:txBody>
      </p:sp>
      <p:sp>
        <p:nvSpPr>
          <p:cNvPr id="84" name="Google Shape;84;p8"/>
          <p:cNvSpPr txBox="1"/>
          <p:nvPr/>
        </p:nvSpPr>
        <p:spPr>
          <a:xfrm>
            <a:off x="6492240" y="3657600"/>
            <a:ext cx="2103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Senior dogs</a:t>
            </a:r>
            <a:endParaRPr b="0" i="0" sz="2000" u="none" cap="none" strike="noStrike">
              <a:solidFill>
                <a:schemeClr val="dk1"/>
              </a:solidFill>
              <a:latin typeface="Calibri"/>
              <a:ea typeface="Calibri"/>
              <a:cs typeface="Calibri"/>
              <a:sym typeface="Calibri"/>
            </a:endParaRPr>
          </a:p>
        </p:txBody>
      </p:sp>
      <p:sp>
        <p:nvSpPr>
          <p:cNvPr id="85" name="Google Shape;85;p8"/>
          <p:cNvSpPr txBox="1"/>
          <p:nvPr/>
        </p:nvSpPr>
        <p:spPr>
          <a:xfrm>
            <a:off x="6492240" y="4114800"/>
            <a:ext cx="21031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Show signs of arthritic joint degeneration</a:t>
            </a:r>
            <a:endParaRPr b="0" i="0" sz="1500" u="none" cap="none" strike="noStrike">
              <a:solidFill>
                <a:schemeClr val="dk1"/>
              </a:solidFill>
              <a:latin typeface="Calibri"/>
              <a:ea typeface="Calibri"/>
              <a:cs typeface="Calibri"/>
              <a:sym typeface="Calibri"/>
            </a:endParaRPr>
          </a:p>
        </p:txBody>
      </p:sp>
      <p:sp>
        <p:nvSpPr>
          <p:cNvPr id="86" name="Google Shape;86;p8"/>
          <p:cNvSpPr/>
          <p:nvPr/>
        </p:nvSpPr>
        <p:spPr>
          <a:xfrm>
            <a:off x="9052560" y="1828800"/>
            <a:ext cx="2560320" cy="3429000"/>
          </a:xfrm>
          <a:prstGeom prst="roundRect">
            <a:avLst>
              <a:gd fmla="val 428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9326880" y="2103120"/>
            <a:ext cx="594360" cy="594360"/>
          </a:xfrm>
          <a:prstGeom prst="ellipse">
            <a:avLst/>
          </a:prstGeom>
          <a:solidFill>
            <a:srgbClr val="2F2A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edling icon" id="88" name="Google Shape;88;p8"/>
          <p:cNvPicPr preferRelativeResize="0"/>
          <p:nvPr/>
        </p:nvPicPr>
        <p:blipFill rotWithShape="1">
          <a:blip r:embed="rId6">
            <a:alphaModFix/>
          </a:blip>
          <a:srcRect b="0" l="0" r="0" t="0"/>
          <a:stretch/>
        </p:blipFill>
        <p:spPr>
          <a:xfrm>
            <a:off x="9475470" y="2251710"/>
            <a:ext cx="297180" cy="297180"/>
          </a:xfrm>
          <a:prstGeom prst="rect">
            <a:avLst/>
          </a:prstGeom>
          <a:noFill/>
          <a:ln>
            <a:noFill/>
          </a:ln>
        </p:spPr>
      </p:pic>
      <p:sp>
        <p:nvSpPr>
          <p:cNvPr id="89" name="Google Shape;89;p8"/>
          <p:cNvSpPr txBox="1"/>
          <p:nvPr/>
        </p:nvSpPr>
        <p:spPr>
          <a:xfrm>
            <a:off x="9326880" y="2880360"/>
            <a:ext cx="21031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4000"/>
              <a:buFont typeface="Arial"/>
              <a:buNone/>
            </a:pPr>
            <a:r>
              <a:rPr b="1" i="0" lang="en-US" sz="4000" u="none" cap="none" strike="noStrike">
                <a:solidFill>
                  <a:schemeClr val="accent1"/>
                </a:solidFill>
                <a:latin typeface="Arial"/>
                <a:ea typeface="Arial"/>
                <a:cs typeface="Arial"/>
                <a:sym typeface="Arial"/>
              </a:rPr>
              <a:t>20%</a:t>
            </a:r>
            <a:endParaRPr b="0" i="0" sz="4000" u="none" cap="none" strike="noStrike">
              <a:solidFill>
                <a:schemeClr val="dk1"/>
              </a:solidFill>
              <a:latin typeface="Calibri"/>
              <a:ea typeface="Calibri"/>
              <a:cs typeface="Calibri"/>
              <a:sym typeface="Calibri"/>
            </a:endParaRPr>
          </a:p>
        </p:txBody>
      </p:sp>
      <p:sp>
        <p:nvSpPr>
          <p:cNvPr id="90" name="Google Shape;90;p8"/>
          <p:cNvSpPr txBox="1"/>
          <p:nvPr/>
        </p:nvSpPr>
        <p:spPr>
          <a:xfrm>
            <a:off x="9326880" y="3657600"/>
            <a:ext cx="2103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Young dogs</a:t>
            </a:r>
            <a:endParaRPr b="0" i="0" sz="2000" u="none" cap="none" strike="noStrike">
              <a:solidFill>
                <a:schemeClr val="dk1"/>
              </a:solidFill>
              <a:latin typeface="Calibri"/>
              <a:ea typeface="Calibri"/>
              <a:cs typeface="Calibri"/>
              <a:sym typeface="Calibri"/>
            </a:endParaRPr>
          </a:p>
        </p:txBody>
      </p:sp>
      <p:sp>
        <p:nvSpPr>
          <p:cNvPr id="91" name="Google Shape;91;p8"/>
          <p:cNvSpPr txBox="1"/>
          <p:nvPr/>
        </p:nvSpPr>
        <p:spPr>
          <a:xfrm>
            <a:off x="9326880" y="4114800"/>
            <a:ext cx="21031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May show early joint deterioration before adulthood</a:t>
            </a:r>
            <a:endParaRPr b="0" i="0" sz="1500" u="none" cap="none" strike="noStrike">
              <a:solidFill>
                <a:schemeClr val="dk1"/>
              </a:solidFill>
              <a:latin typeface="Calibri"/>
              <a:ea typeface="Calibri"/>
              <a:cs typeface="Calibri"/>
              <a:sym typeface="Calibri"/>
            </a:endParaRPr>
          </a:p>
        </p:txBody>
      </p:sp>
      <p:sp>
        <p:nvSpPr>
          <p:cNvPr id="92" name="Google Shape;92;p8"/>
          <p:cNvSpPr txBox="1"/>
          <p:nvPr/>
        </p:nvSpPr>
        <p:spPr>
          <a:xfrm>
            <a:off x="548640" y="5486400"/>
            <a:ext cx="110642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Source: American Animal Hospital Association (AAHA) and veterinary research. Large breeds such as Labradors, Golden Retrievers, German Shepherds and Rottweilers are among the most vulnerable.</a:t>
            </a:r>
            <a:endParaRPr b="0" i="0" sz="1200" u="none" cap="none" strike="noStrike">
              <a:solidFill>
                <a:schemeClr val="dk1"/>
              </a:solidFill>
              <a:latin typeface="Calibri"/>
              <a:ea typeface="Calibri"/>
              <a:cs typeface="Calibri"/>
              <a:sym typeface="Calibri"/>
            </a:endParaRPr>
          </a:p>
        </p:txBody>
      </p:sp>
      <p:sp>
        <p:nvSpPr>
          <p:cNvPr id="93" name="Google Shape;93;p8"/>
          <p:cNvSpPr txBox="1"/>
          <p:nvPr>
            <p:ph idx="4294967295" type="sldNum"/>
          </p:nvPr>
        </p:nvSpPr>
        <p:spPr>
          <a:xfrm>
            <a:off x="1097280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9"/>
          <p:cNvSpPr txBox="1"/>
          <p:nvPr>
            <p:ph type="title"/>
          </p:nvPr>
        </p:nvSpPr>
        <p:spPr>
          <a:xfrm>
            <a:off x="548640" y="384048"/>
            <a:ext cx="950976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Humans have a mobility care market. Dogs do not. That gap is ResQ</a:t>
            </a:r>
            <a:endParaRPr sz="3000"/>
          </a:p>
        </p:txBody>
      </p:sp>
      <p:sp>
        <p:nvSpPr>
          <p:cNvPr id="100" name="Google Shape;100;p9"/>
          <p:cNvSpPr txBox="1"/>
          <p:nvPr/>
        </p:nvSpPr>
        <p:spPr>
          <a:xfrm>
            <a:off x="3474720" y="1691640"/>
            <a:ext cx="3931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2000"/>
              <a:buFont typeface="Calibri"/>
              <a:buNone/>
            </a:pPr>
            <a:r>
              <a:rPr b="1" i="0" lang="en-US" sz="2000" u="none" cap="none" strike="noStrike">
                <a:solidFill>
                  <a:schemeClr val="dk2"/>
                </a:solidFill>
                <a:latin typeface="Calibri"/>
                <a:ea typeface="Calibri"/>
                <a:cs typeface="Calibri"/>
                <a:sym typeface="Calibri"/>
              </a:rPr>
              <a:t>Humans</a:t>
            </a:r>
            <a:endParaRPr b="0" i="0" sz="2000" u="none" cap="none" strike="noStrike">
              <a:solidFill>
                <a:schemeClr val="dk1"/>
              </a:solidFill>
              <a:latin typeface="Calibri"/>
              <a:ea typeface="Calibri"/>
              <a:cs typeface="Calibri"/>
              <a:sym typeface="Calibri"/>
            </a:endParaRPr>
          </a:p>
        </p:txBody>
      </p:sp>
      <p:sp>
        <p:nvSpPr>
          <p:cNvPr id="101" name="Google Shape;101;p9"/>
          <p:cNvSpPr txBox="1"/>
          <p:nvPr/>
        </p:nvSpPr>
        <p:spPr>
          <a:xfrm>
            <a:off x="7589520" y="1691640"/>
            <a:ext cx="405353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Calibri"/>
              <a:buNone/>
            </a:pPr>
            <a:r>
              <a:rPr b="1" i="0" lang="en-US" sz="2000" u="none" cap="none" strike="noStrike">
                <a:solidFill>
                  <a:schemeClr val="accent1"/>
                </a:solidFill>
                <a:latin typeface="Calibri"/>
                <a:ea typeface="Calibri"/>
                <a:cs typeface="Calibri"/>
                <a:sym typeface="Calibri"/>
              </a:rPr>
              <a:t>Dogs</a:t>
            </a:r>
            <a:endParaRPr b="0" i="0" sz="2000" u="none" cap="none" strike="noStrike">
              <a:solidFill>
                <a:schemeClr val="dk1"/>
              </a:solidFill>
              <a:latin typeface="Calibri"/>
              <a:ea typeface="Calibri"/>
              <a:cs typeface="Calibri"/>
              <a:sym typeface="Calibri"/>
            </a:endParaRPr>
          </a:p>
        </p:txBody>
      </p:sp>
      <p:sp>
        <p:nvSpPr>
          <p:cNvPr id="102" name="Google Shape;102;p9"/>
          <p:cNvSpPr txBox="1"/>
          <p:nvPr/>
        </p:nvSpPr>
        <p:spPr>
          <a:xfrm>
            <a:off x="548640" y="2148840"/>
            <a:ext cx="2743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Famous examples</a:t>
            </a:r>
            <a:endParaRPr b="0" i="0" sz="1600" u="none" cap="none" strike="noStrike">
              <a:solidFill>
                <a:schemeClr val="dk1"/>
              </a:solidFill>
              <a:latin typeface="Calibri"/>
              <a:ea typeface="Calibri"/>
              <a:cs typeface="Calibri"/>
              <a:sym typeface="Calibri"/>
            </a:endParaRPr>
          </a:p>
        </p:txBody>
      </p:sp>
      <p:sp>
        <p:nvSpPr>
          <p:cNvPr id="103" name="Google Shape;103;p9"/>
          <p:cNvSpPr/>
          <p:nvPr/>
        </p:nvSpPr>
        <p:spPr>
          <a:xfrm>
            <a:off x="3474720" y="2148840"/>
            <a:ext cx="3931920" cy="640080"/>
          </a:xfrm>
          <a:prstGeom prst="roundRect">
            <a:avLst>
              <a:gd fmla="val 1714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
          <p:cNvSpPr/>
          <p:nvPr/>
        </p:nvSpPr>
        <p:spPr>
          <a:xfrm>
            <a:off x="3639312" y="2304288"/>
            <a:ext cx="329184" cy="329184"/>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Yes" id="105" name="Google Shape;105;p9"/>
          <p:cNvPicPr preferRelativeResize="0"/>
          <p:nvPr/>
        </p:nvPicPr>
        <p:blipFill rotWithShape="1">
          <a:blip r:embed="rId3">
            <a:alphaModFix/>
          </a:blip>
          <a:srcRect b="0" l="0" r="0" t="0"/>
          <a:stretch/>
        </p:blipFill>
        <p:spPr>
          <a:xfrm>
            <a:off x="3717036" y="2391156"/>
            <a:ext cx="164592" cy="164592"/>
          </a:xfrm>
          <a:prstGeom prst="rect">
            <a:avLst/>
          </a:prstGeom>
          <a:noFill/>
          <a:ln>
            <a:noFill/>
          </a:ln>
        </p:spPr>
      </p:pic>
      <p:sp>
        <p:nvSpPr>
          <p:cNvPr id="106" name="Google Shape;106;p9"/>
          <p:cNvSpPr txBox="1"/>
          <p:nvPr/>
        </p:nvSpPr>
        <p:spPr>
          <a:xfrm>
            <a:off x="4114800" y="2148840"/>
            <a:ext cx="31546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Paralympics and elite adaptive sport</a:t>
            </a:r>
            <a:endParaRPr b="0" i="0" sz="1500" u="none" cap="none" strike="noStrike">
              <a:solidFill>
                <a:schemeClr val="dk1"/>
              </a:solidFill>
              <a:latin typeface="Calibri"/>
              <a:ea typeface="Calibri"/>
              <a:cs typeface="Calibri"/>
              <a:sym typeface="Calibri"/>
            </a:endParaRPr>
          </a:p>
        </p:txBody>
      </p:sp>
      <p:sp>
        <p:nvSpPr>
          <p:cNvPr id="107" name="Google Shape;107;p9"/>
          <p:cNvSpPr/>
          <p:nvPr/>
        </p:nvSpPr>
        <p:spPr>
          <a:xfrm>
            <a:off x="7589520" y="2148840"/>
            <a:ext cx="4053535" cy="640080"/>
          </a:xfrm>
          <a:prstGeom prst="roundRect">
            <a:avLst>
              <a:gd fmla="val 17143"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9"/>
          <p:cNvSpPr/>
          <p:nvPr/>
        </p:nvSpPr>
        <p:spPr>
          <a:xfrm>
            <a:off x="7754112" y="2304288"/>
            <a:ext cx="329184" cy="32918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No" id="109" name="Google Shape;109;p9"/>
          <p:cNvPicPr preferRelativeResize="0"/>
          <p:nvPr/>
        </p:nvPicPr>
        <p:blipFill rotWithShape="1">
          <a:blip r:embed="rId4">
            <a:alphaModFix/>
          </a:blip>
          <a:srcRect b="0" l="0" r="0" t="0"/>
          <a:stretch/>
        </p:blipFill>
        <p:spPr>
          <a:xfrm>
            <a:off x="7831836" y="2391156"/>
            <a:ext cx="164592" cy="164592"/>
          </a:xfrm>
          <a:prstGeom prst="rect">
            <a:avLst/>
          </a:prstGeom>
          <a:noFill/>
          <a:ln>
            <a:noFill/>
          </a:ln>
        </p:spPr>
      </p:pic>
      <p:sp>
        <p:nvSpPr>
          <p:cNvPr id="110" name="Google Shape;110;p9"/>
          <p:cNvSpPr txBox="1"/>
          <p:nvPr/>
        </p:nvSpPr>
        <p:spPr>
          <a:xfrm>
            <a:off x="8229600" y="2148840"/>
            <a:ext cx="3276295"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Few or none. Even bomb-squad dogs get no standard support</a:t>
            </a:r>
            <a:endParaRPr b="0" i="0" sz="1500" u="none" cap="none" strike="noStrike">
              <a:solidFill>
                <a:schemeClr val="dk1"/>
              </a:solidFill>
              <a:latin typeface="Calibri"/>
              <a:ea typeface="Calibri"/>
              <a:cs typeface="Calibri"/>
              <a:sym typeface="Calibri"/>
            </a:endParaRPr>
          </a:p>
        </p:txBody>
      </p:sp>
      <p:sp>
        <p:nvSpPr>
          <p:cNvPr id="111" name="Google Shape;111;p9"/>
          <p:cNvSpPr txBox="1"/>
          <p:nvPr/>
        </p:nvSpPr>
        <p:spPr>
          <a:xfrm>
            <a:off x="548640" y="2880360"/>
            <a:ext cx="2743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Wheelchairs and prosthetics</a:t>
            </a:r>
            <a:endParaRPr b="0" i="0" sz="1600" u="none" cap="none" strike="noStrike">
              <a:solidFill>
                <a:schemeClr val="dk1"/>
              </a:solidFill>
              <a:latin typeface="Calibri"/>
              <a:ea typeface="Calibri"/>
              <a:cs typeface="Calibri"/>
              <a:sym typeface="Calibri"/>
            </a:endParaRPr>
          </a:p>
        </p:txBody>
      </p:sp>
      <p:sp>
        <p:nvSpPr>
          <p:cNvPr id="112" name="Google Shape;112;p9"/>
          <p:cNvSpPr/>
          <p:nvPr/>
        </p:nvSpPr>
        <p:spPr>
          <a:xfrm>
            <a:off x="3474720" y="2880360"/>
            <a:ext cx="3931920" cy="640080"/>
          </a:xfrm>
          <a:prstGeom prst="roundRect">
            <a:avLst>
              <a:gd fmla="val 1714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9"/>
          <p:cNvSpPr/>
          <p:nvPr/>
        </p:nvSpPr>
        <p:spPr>
          <a:xfrm>
            <a:off x="3639312" y="3035808"/>
            <a:ext cx="329184" cy="329184"/>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Yes" id="114" name="Google Shape;114;p9"/>
          <p:cNvPicPr preferRelativeResize="0"/>
          <p:nvPr/>
        </p:nvPicPr>
        <p:blipFill rotWithShape="1">
          <a:blip r:embed="rId3">
            <a:alphaModFix/>
          </a:blip>
          <a:srcRect b="0" l="0" r="0" t="0"/>
          <a:stretch/>
        </p:blipFill>
        <p:spPr>
          <a:xfrm>
            <a:off x="3717036" y="3122676"/>
            <a:ext cx="164592" cy="164592"/>
          </a:xfrm>
          <a:prstGeom prst="rect">
            <a:avLst/>
          </a:prstGeom>
          <a:noFill/>
          <a:ln>
            <a:noFill/>
          </a:ln>
        </p:spPr>
      </p:pic>
      <p:sp>
        <p:nvSpPr>
          <p:cNvPr id="115" name="Google Shape;115;p9"/>
          <p:cNvSpPr txBox="1"/>
          <p:nvPr/>
        </p:nvSpPr>
        <p:spPr>
          <a:xfrm>
            <a:off x="4114800" y="2880360"/>
            <a:ext cx="31546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Widely available</a:t>
            </a:r>
            <a:endParaRPr b="0" i="0" sz="1500" u="none" cap="none" strike="noStrike">
              <a:solidFill>
                <a:schemeClr val="dk1"/>
              </a:solidFill>
              <a:latin typeface="Calibri"/>
              <a:ea typeface="Calibri"/>
              <a:cs typeface="Calibri"/>
              <a:sym typeface="Calibri"/>
            </a:endParaRPr>
          </a:p>
        </p:txBody>
      </p:sp>
      <p:sp>
        <p:nvSpPr>
          <p:cNvPr id="116" name="Google Shape;116;p9"/>
          <p:cNvSpPr/>
          <p:nvPr/>
        </p:nvSpPr>
        <p:spPr>
          <a:xfrm>
            <a:off x="7589520" y="2880360"/>
            <a:ext cx="4053535" cy="640080"/>
          </a:xfrm>
          <a:prstGeom prst="roundRect">
            <a:avLst>
              <a:gd fmla="val 17143"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p:cNvSpPr/>
          <p:nvPr/>
        </p:nvSpPr>
        <p:spPr>
          <a:xfrm>
            <a:off x="7754112" y="3035808"/>
            <a:ext cx="329184" cy="32918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No" id="118" name="Google Shape;118;p9"/>
          <p:cNvPicPr preferRelativeResize="0"/>
          <p:nvPr/>
        </p:nvPicPr>
        <p:blipFill rotWithShape="1">
          <a:blip r:embed="rId4">
            <a:alphaModFix/>
          </a:blip>
          <a:srcRect b="0" l="0" r="0" t="0"/>
          <a:stretch/>
        </p:blipFill>
        <p:spPr>
          <a:xfrm>
            <a:off x="7831836" y="3122676"/>
            <a:ext cx="164592" cy="164592"/>
          </a:xfrm>
          <a:prstGeom prst="rect">
            <a:avLst/>
          </a:prstGeom>
          <a:noFill/>
          <a:ln>
            <a:noFill/>
          </a:ln>
        </p:spPr>
      </p:pic>
      <p:sp>
        <p:nvSpPr>
          <p:cNvPr id="119" name="Google Shape;119;p9"/>
          <p:cNvSpPr txBox="1"/>
          <p:nvPr/>
        </p:nvSpPr>
        <p:spPr>
          <a:xfrm>
            <a:off x="8229600" y="2880360"/>
            <a:ext cx="3276295"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No affordable wheelchair</a:t>
            </a:r>
            <a:endParaRPr b="0" i="0" sz="1500" u="none" cap="none" strike="noStrike">
              <a:solidFill>
                <a:schemeClr val="dk1"/>
              </a:solidFill>
              <a:latin typeface="Calibri"/>
              <a:ea typeface="Calibri"/>
              <a:cs typeface="Calibri"/>
              <a:sym typeface="Calibri"/>
            </a:endParaRPr>
          </a:p>
        </p:txBody>
      </p:sp>
      <p:sp>
        <p:nvSpPr>
          <p:cNvPr id="120" name="Google Shape;120;p9"/>
          <p:cNvSpPr txBox="1"/>
          <p:nvPr/>
        </p:nvSpPr>
        <p:spPr>
          <a:xfrm>
            <a:off x="548640" y="3611880"/>
            <a:ext cx="2743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Rehab network</a:t>
            </a:r>
            <a:endParaRPr b="0" i="0" sz="1600" u="none" cap="none" strike="noStrike">
              <a:solidFill>
                <a:schemeClr val="dk1"/>
              </a:solidFill>
              <a:latin typeface="Calibri"/>
              <a:ea typeface="Calibri"/>
              <a:cs typeface="Calibri"/>
              <a:sym typeface="Calibri"/>
            </a:endParaRPr>
          </a:p>
        </p:txBody>
      </p:sp>
      <p:sp>
        <p:nvSpPr>
          <p:cNvPr id="121" name="Google Shape;121;p9"/>
          <p:cNvSpPr/>
          <p:nvPr/>
        </p:nvSpPr>
        <p:spPr>
          <a:xfrm>
            <a:off x="3474720" y="3611880"/>
            <a:ext cx="3931920" cy="640080"/>
          </a:xfrm>
          <a:prstGeom prst="roundRect">
            <a:avLst>
              <a:gd fmla="val 1714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9"/>
          <p:cNvSpPr/>
          <p:nvPr/>
        </p:nvSpPr>
        <p:spPr>
          <a:xfrm>
            <a:off x="3639312" y="3767328"/>
            <a:ext cx="329184" cy="329184"/>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Yes" id="123" name="Google Shape;123;p9"/>
          <p:cNvPicPr preferRelativeResize="0"/>
          <p:nvPr/>
        </p:nvPicPr>
        <p:blipFill rotWithShape="1">
          <a:blip r:embed="rId3">
            <a:alphaModFix/>
          </a:blip>
          <a:srcRect b="0" l="0" r="0" t="0"/>
          <a:stretch/>
        </p:blipFill>
        <p:spPr>
          <a:xfrm>
            <a:off x="3717036" y="3854196"/>
            <a:ext cx="164592" cy="164592"/>
          </a:xfrm>
          <a:prstGeom prst="rect">
            <a:avLst/>
          </a:prstGeom>
          <a:noFill/>
          <a:ln>
            <a:noFill/>
          </a:ln>
        </p:spPr>
      </p:pic>
      <p:sp>
        <p:nvSpPr>
          <p:cNvPr id="124" name="Google Shape;124;p9"/>
          <p:cNvSpPr txBox="1"/>
          <p:nvPr/>
        </p:nvSpPr>
        <p:spPr>
          <a:xfrm>
            <a:off x="4114800" y="3611880"/>
            <a:ext cx="31546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Physiotherapy and rehab centres</a:t>
            </a:r>
            <a:endParaRPr b="0" i="0" sz="1500" u="none" cap="none" strike="noStrike">
              <a:solidFill>
                <a:schemeClr val="dk1"/>
              </a:solidFill>
              <a:latin typeface="Calibri"/>
              <a:ea typeface="Calibri"/>
              <a:cs typeface="Calibri"/>
              <a:sym typeface="Calibri"/>
            </a:endParaRPr>
          </a:p>
        </p:txBody>
      </p:sp>
      <p:sp>
        <p:nvSpPr>
          <p:cNvPr id="125" name="Google Shape;125;p9"/>
          <p:cNvSpPr/>
          <p:nvPr/>
        </p:nvSpPr>
        <p:spPr>
          <a:xfrm>
            <a:off x="7589520" y="3611880"/>
            <a:ext cx="4053535" cy="640080"/>
          </a:xfrm>
          <a:prstGeom prst="roundRect">
            <a:avLst>
              <a:gd fmla="val 17143"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9"/>
          <p:cNvSpPr/>
          <p:nvPr/>
        </p:nvSpPr>
        <p:spPr>
          <a:xfrm>
            <a:off x="7754112" y="3767328"/>
            <a:ext cx="329184" cy="32918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No" id="127" name="Google Shape;127;p9"/>
          <p:cNvPicPr preferRelativeResize="0"/>
          <p:nvPr/>
        </p:nvPicPr>
        <p:blipFill rotWithShape="1">
          <a:blip r:embed="rId4">
            <a:alphaModFix/>
          </a:blip>
          <a:srcRect b="0" l="0" r="0" t="0"/>
          <a:stretch/>
        </p:blipFill>
        <p:spPr>
          <a:xfrm>
            <a:off x="7831836" y="3854196"/>
            <a:ext cx="164592" cy="164592"/>
          </a:xfrm>
          <a:prstGeom prst="rect">
            <a:avLst/>
          </a:prstGeom>
          <a:noFill/>
          <a:ln>
            <a:noFill/>
          </a:ln>
        </p:spPr>
      </p:pic>
      <p:sp>
        <p:nvSpPr>
          <p:cNvPr id="128" name="Google Shape;128;p9"/>
          <p:cNvSpPr txBox="1"/>
          <p:nvPr/>
        </p:nvSpPr>
        <p:spPr>
          <a:xfrm>
            <a:off x="8229600" y="3611880"/>
            <a:ext cx="3276295"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No rehab network</a:t>
            </a:r>
            <a:endParaRPr b="0" i="0" sz="1500" u="none" cap="none" strike="noStrike">
              <a:solidFill>
                <a:schemeClr val="dk1"/>
              </a:solidFill>
              <a:latin typeface="Calibri"/>
              <a:ea typeface="Calibri"/>
              <a:cs typeface="Calibri"/>
              <a:sym typeface="Calibri"/>
            </a:endParaRPr>
          </a:p>
        </p:txBody>
      </p:sp>
      <p:sp>
        <p:nvSpPr>
          <p:cNvPr id="129" name="Google Shape;129;p9"/>
          <p:cNvSpPr txBox="1"/>
          <p:nvPr/>
        </p:nvSpPr>
        <p:spPr>
          <a:xfrm>
            <a:off x="548640" y="4343400"/>
            <a:ext cx="2743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Insurance</a:t>
            </a:r>
            <a:endParaRPr b="0" i="0" sz="1600" u="none" cap="none" strike="noStrike">
              <a:solidFill>
                <a:schemeClr val="dk1"/>
              </a:solidFill>
              <a:latin typeface="Calibri"/>
              <a:ea typeface="Calibri"/>
              <a:cs typeface="Calibri"/>
              <a:sym typeface="Calibri"/>
            </a:endParaRPr>
          </a:p>
        </p:txBody>
      </p:sp>
      <p:sp>
        <p:nvSpPr>
          <p:cNvPr id="130" name="Google Shape;130;p9"/>
          <p:cNvSpPr/>
          <p:nvPr/>
        </p:nvSpPr>
        <p:spPr>
          <a:xfrm>
            <a:off x="3474720" y="4343400"/>
            <a:ext cx="3931920" cy="640080"/>
          </a:xfrm>
          <a:prstGeom prst="roundRect">
            <a:avLst>
              <a:gd fmla="val 1714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9"/>
          <p:cNvSpPr/>
          <p:nvPr/>
        </p:nvSpPr>
        <p:spPr>
          <a:xfrm>
            <a:off x="3639312" y="4498848"/>
            <a:ext cx="329184" cy="329184"/>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Yes" id="132" name="Google Shape;132;p9"/>
          <p:cNvPicPr preferRelativeResize="0"/>
          <p:nvPr/>
        </p:nvPicPr>
        <p:blipFill rotWithShape="1">
          <a:blip r:embed="rId3">
            <a:alphaModFix/>
          </a:blip>
          <a:srcRect b="0" l="0" r="0" t="0"/>
          <a:stretch/>
        </p:blipFill>
        <p:spPr>
          <a:xfrm>
            <a:off x="3717036" y="4585716"/>
            <a:ext cx="164592" cy="164592"/>
          </a:xfrm>
          <a:prstGeom prst="rect">
            <a:avLst/>
          </a:prstGeom>
          <a:noFill/>
          <a:ln>
            <a:noFill/>
          </a:ln>
        </p:spPr>
      </p:pic>
      <p:sp>
        <p:nvSpPr>
          <p:cNvPr id="133" name="Google Shape;133;p9"/>
          <p:cNvSpPr txBox="1"/>
          <p:nvPr/>
        </p:nvSpPr>
        <p:spPr>
          <a:xfrm>
            <a:off x="4114800" y="4343400"/>
            <a:ext cx="31546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Available</a:t>
            </a:r>
            <a:endParaRPr b="0" i="0" sz="1500" u="none" cap="none" strike="noStrike">
              <a:solidFill>
                <a:schemeClr val="dk1"/>
              </a:solidFill>
              <a:latin typeface="Calibri"/>
              <a:ea typeface="Calibri"/>
              <a:cs typeface="Calibri"/>
              <a:sym typeface="Calibri"/>
            </a:endParaRPr>
          </a:p>
        </p:txBody>
      </p:sp>
      <p:sp>
        <p:nvSpPr>
          <p:cNvPr id="134" name="Google Shape;134;p9"/>
          <p:cNvSpPr/>
          <p:nvPr/>
        </p:nvSpPr>
        <p:spPr>
          <a:xfrm>
            <a:off x="7589520" y="4343400"/>
            <a:ext cx="4053535" cy="640080"/>
          </a:xfrm>
          <a:prstGeom prst="roundRect">
            <a:avLst>
              <a:gd fmla="val 17143"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9"/>
          <p:cNvSpPr/>
          <p:nvPr/>
        </p:nvSpPr>
        <p:spPr>
          <a:xfrm>
            <a:off x="7754112" y="4498848"/>
            <a:ext cx="329184" cy="32918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No" id="136" name="Google Shape;136;p9"/>
          <p:cNvPicPr preferRelativeResize="0"/>
          <p:nvPr/>
        </p:nvPicPr>
        <p:blipFill rotWithShape="1">
          <a:blip r:embed="rId4">
            <a:alphaModFix/>
          </a:blip>
          <a:srcRect b="0" l="0" r="0" t="0"/>
          <a:stretch/>
        </p:blipFill>
        <p:spPr>
          <a:xfrm>
            <a:off x="7831836" y="4585716"/>
            <a:ext cx="164592" cy="164592"/>
          </a:xfrm>
          <a:prstGeom prst="rect">
            <a:avLst/>
          </a:prstGeom>
          <a:noFill/>
          <a:ln>
            <a:noFill/>
          </a:ln>
        </p:spPr>
      </p:pic>
      <p:sp>
        <p:nvSpPr>
          <p:cNvPr id="137" name="Google Shape;137;p9"/>
          <p:cNvSpPr txBox="1"/>
          <p:nvPr/>
        </p:nvSpPr>
        <p:spPr>
          <a:xfrm>
            <a:off x="8229600" y="4343400"/>
            <a:ext cx="3276295"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No insurance</a:t>
            </a:r>
            <a:endParaRPr b="0" i="0" sz="1500" u="none" cap="none" strike="noStrike">
              <a:solidFill>
                <a:schemeClr val="dk1"/>
              </a:solidFill>
              <a:latin typeface="Calibri"/>
              <a:ea typeface="Calibri"/>
              <a:cs typeface="Calibri"/>
              <a:sym typeface="Calibri"/>
            </a:endParaRPr>
          </a:p>
        </p:txBody>
      </p:sp>
      <p:sp>
        <p:nvSpPr>
          <p:cNvPr id="138" name="Google Shape;138;p9"/>
          <p:cNvSpPr txBox="1"/>
          <p:nvPr/>
        </p:nvSpPr>
        <p:spPr>
          <a:xfrm>
            <a:off x="548640" y="5074920"/>
            <a:ext cx="2743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After a severe injury</a:t>
            </a:r>
            <a:endParaRPr b="0" i="0" sz="1600" u="none" cap="none" strike="noStrike">
              <a:solidFill>
                <a:schemeClr val="dk1"/>
              </a:solidFill>
              <a:latin typeface="Calibri"/>
              <a:ea typeface="Calibri"/>
              <a:cs typeface="Calibri"/>
              <a:sym typeface="Calibri"/>
            </a:endParaRPr>
          </a:p>
        </p:txBody>
      </p:sp>
      <p:sp>
        <p:nvSpPr>
          <p:cNvPr id="139" name="Google Shape;139;p9"/>
          <p:cNvSpPr/>
          <p:nvPr/>
        </p:nvSpPr>
        <p:spPr>
          <a:xfrm>
            <a:off x="3474720" y="5074920"/>
            <a:ext cx="3931920" cy="640080"/>
          </a:xfrm>
          <a:prstGeom prst="roundRect">
            <a:avLst>
              <a:gd fmla="val 1714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9"/>
          <p:cNvSpPr/>
          <p:nvPr/>
        </p:nvSpPr>
        <p:spPr>
          <a:xfrm>
            <a:off x="3639312" y="5230368"/>
            <a:ext cx="329184" cy="329184"/>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Yes" id="141" name="Google Shape;141;p9"/>
          <p:cNvPicPr preferRelativeResize="0"/>
          <p:nvPr/>
        </p:nvPicPr>
        <p:blipFill rotWithShape="1">
          <a:blip r:embed="rId3">
            <a:alphaModFix/>
          </a:blip>
          <a:srcRect b="0" l="0" r="0" t="0"/>
          <a:stretch/>
        </p:blipFill>
        <p:spPr>
          <a:xfrm>
            <a:off x="3717036" y="5317236"/>
            <a:ext cx="164592" cy="164592"/>
          </a:xfrm>
          <a:prstGeom prst="rect">
            <a:avLst/>
          </a:prstGeom>
          <a:noFill/>
          <a:ln>
            <a:noFill/>
          </a:ln>
        </p:spPr>
      </p:pic>
      <p:sp>
        <p:nvSpPr>
          <p:cNvPr id="142" name="Google Shape;142;p9"/>
          <p:cNvSpPr txBox="1"/>
          <p:nvPr/>
        </p:nvSpPr>
        <p:spPr>
          <a:xfrm>
            <a:off x="4114800" y="5074920"/>
            <a:ext cx="31546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Care and recovery</a:t>
            </a:r>
            <a:endParaRPr b="0" i="0" sz="1500" u="none" cap="none" strike="noStrike">
              <a:solidFill>
                <a:schemeClr val="dk1"/>
              </a:solidFill>
              <a:latin typeface="Calibri"/>
              <a:ea typeface="Calibri"/>
              <a:cs typeface="Calibri"/>
              <a:sym typeface="Calibri"/>
            </a:endParaRPr>
          </a:p>
        </p:txBody>
      </p:sp>
      <p:sp>
        <p:nvSpPr>
          <p:cNvPr id="143" name="Google Shape;143;p9"/>
          <p:cNvSpPr/>
          <p:nvPr/>
        </p:nvSpPr>
        <p:spPr>
          <a:xfrm>
            <a:off x="7589520" y="5074920"/>
            <a:ext cx="4053535" cy="640080"/>
          </a:xfrm>
          <a:prstGeom prst="roundRect">
            <a:avLst>
              <a:gd fmla="val 17143"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9"/>
          <p:cNvSpPr/>
          <p:nvPr/>
        </p:nvSpPr>
        <p:spPr>
          <a:xfrm>
            <a:off x="7754112" y="5230368"/>
            <a:ext cx="329184" cy="32918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No" id="145" name="Google Shape;145;p9"/>
          <p:cNvPicPr preferRelativeResize="0"/>
          <p:nvPr/>
        </p:nvPicPr>
        <p:blipFill rotWithShape="1">
          <a:blip r:embed="rId4">
            <a:alphaModFix/>
          </a:blip>
          <a:srcRect b="0" l="0" r="0" t="0"/>
          <a:stretch/>
        </p:blipFill>
        <p:spPr>
          <a:xfrm>
            <a:off x="7831836" y="5317236"/>
            <a:ext cx="164592" cy="164592"/>
          </a:xfrm>
          <a:prstGeom prst="rect">
            <a:avLst/>
          </a:prstGeom>
          <a:noFill/>
          <a:ln>
            <a:noFill/>
          </a:ln>
        </p:spPr>
      </p:pic>
      <p:sp>
        <p:nvSpPr>
          <p:cNvPr id="146" name="Google Shape;146;p9"/>
          <p:cNvSpPr txBox="1"/>
          <p:nvPr/>
        </p:nvSpPr>
        <p:spPr>
          <a:xfrm>
            <a:off x="8229600" y="5074920"/>
            <a:ext cx="3276295"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Often euthanasia</a:t>
            </a:r>
            <a:endParaRPr b="0" i="0" sz="1500" u="none" cap="none" strike="noStrike">
              <a:solidFill>
                <a:schemeClr val="dk1"/>
              </a:solidFill>
              <a:latin typeface="Calibri"/>
              <a:ea typeface="Calibri"/>
              <a:cs typeface="Calibri"/>
              <a:sym typeface="Calibri"/>
            </a:endParaRPr>
          </a:p>
        </p:txBody>
      </p:sp>
      <p:sp>
        <p:nvSpPr>
          <p:cNvPr id="147" name="Google Shape;147;p9"/>
          <p:cNvSpPr txBox="1"/>
          <p:nvPr/>
        </p:nvSpPr>
        <p:spPr>
          <a:xfrm>
            <a:off x="548640" y="5852160"/>
            <a:ext cx="11064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800"/>
              <a:buFont typeface="Calibri"/>
              <a:buNone/>
            </a:pPr>
            <a:r>
              <a:rPr b="0" i="1" lang="en-US" sz="1800" u="none" cap="none" strike="noStrike">
                <a:solidFill>
                  <a:schemeClr val="accent6"/>
                </a:solidFill>
                <a:latin typeface="Calibri"/>
                <a:ea typeface="Calibri"/>
                <a:cs typeface="Calibri"/>
                <a:sym typeface="Calibri"/>
              </a:rPr>
              <a:t>The solution works: dogs in wheelchairs run, play and live happy lives.</a:t>
            </a:r>
            <a:endParaRPr b="0" i="0" sz="1800" u="none" cap="none" strike="noStrike">
              <a:solidFill>
                <a:schemeClr val="dk1"/>
              </a:solidFill>
              <a:latin typeface="Calibri"/>
              <a:ea typeface="Calibri"/>
              <a:cs typeface="Calibri"/>
              <a:sym typeface="Calibri"/>
            </a:endParaRPr>
          </a:p>
        </p:txBody>
      </p:sp>
      <p:sp>
        <p:nvSpPr>
          <p:cNvPr id="148" name="Google Shape;148;p9"/>
          <p:cNvSpPr txBox="1"/>
          <p:nvPr>
            <p:ph idx="4294967295" type="sldNum"/>
          </p:nvPr>
        </p:nvSpPr>
        <p:spPr>
          <a:xfrm>
            <a:off x="1097280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0"/>
          <p:cNvSpPr txBox="1"/>
          <p:nvPr>
            <p:ph type="title"/>
          </p:nvPr>
        </p:nvSpPr>
        <p:spPr>
          <a:xfrm>
            <a:off x="548640" y="384048"/>
            <a:ext cx="950976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Owners are not just looking for a wheelchair. They need a complete support system</a:t>
            </a:r>
            <a:endParaRPr sz="3000"/>
          </a:p>
        </p:txBody>
      </p:sp>
      <p:sp>
        <p:nvSpPr>
          <p:cNvPr id="155" name="Google Shape;155;p10"/>
          <p:cNvSpPr/>
          <p:nvPr/>
        </p:nvSpPr>
        <p:spPr>
          <a:xfrm>
            <a:off x="548640" y="1920240"/>
            <a:ext cx="2560320" cy="3520440"/>
          </a:xfrm>
          <a:prstGeom prst="roundRect">
            <a:avLst>
              <a:gd fmla="val 428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0"/>
          <p:cNvSpPr/>
          <p:nvPr/>
        </p:nvSpPr>
        <p:spPr>
          <a:xfrm>
            <a:off x="822960" y="2240280"/>
            <a:ext cx="914400" cy="914400"/>
          </a:xfrm>
          <a:prstGeom prst="ellipse">
            <a:avLst/>
          </a:prstGeom>
          <a:solidFill>
            <a:srgbClr val="F339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Md icon" id="157" name="Google Shape;157;p10"/>
          <p:cNvPicPr preferRelativeResize="0"/>
          <p:nvPr/>
        </p:nvPicPr>
        <p:blipFill rotWithShape="1">
          <a:blip r:embed="rId3">
            <a:alphaModFix/>
          </a:blip>
          <a:srcRect b="0" l="0" r="0" t="0"/>
          <a:stretch/>
        </p:blipFill>
        <p:spPr>
          <a:xfrm>
            <a:off x="1051560" y="2468880"/>
            <a:ext cx="457200" cy="457200"/>
          </a:xfrm>
          <a:prstGeom prst="rect">
            <a:avLst/>
          </a:prstGeom>
          <a:noFill/>
          <a:ln>
            <a:noFill/>
          </a:ln>
        </p:spPr>
      </p:pic>
      <p:sp>
        <p:nvSpPr>
          <p:cNvPr id="158" name="Google Shape;158;p10"/>
          <p:cNvSpPr txBox="1"/>
          <p:nvPr/>
        </p:nvSpPr>
        <p:spPr>
          <a:xfrm>
            <a:off x="822960" y="3429000"/>
            <a:ext cx="21031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The right specialist</a:t>
            </a:r>
            <a:endParaRPr b="0" i="0" sz="2000" u="none" cap="none" strike="noStrike">
              <a:solidFill>
                <a:schemeClr val="dk1"/>
              </a:solidFill>
              <a:latin typeface="Calibri"/>
              <a:ea typeface="Calibri"/>
              <a:cs typeface="Calibri"/>
              <a:sym typeface="Calibri"/>
            </a:endParaRPr>
          </a:p>
        </p:txBody>
      </p:sp>
      <p:sp>
        <p:nvSpPr>
          <p:cNvPr id="159" name="Google Shape;159;p10"/>
          <p:cNvSpPr txBox="1"/>
          <p:nvPr/>
        </p:nvSpPr>
        <p:spPr>
          <a:xfrm>
            <a:off x="822960" y="4206240"/>
            <a:ext cx="21031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Access to qualified orthopaedic and rehabilitation experts.</a:t>
            </a:r>
            <a:endParaRPr b="0" i="0" sz="1500" u="none" cap="none" strike="noStrike">
              <a:solidFill>
                <a:schemeClr val="dk1"/>
              </a:solidFill>
              <a:latin typeface="Calibri"/>
              <a:ea typeface="Calibri"/>
              <a:cs typeface="Calibri"/>
              <a:sym typeface="Calibri"/>
            </a:endParaRPr>
          </a:p>
        </p:txBody>
      </p:sp>
      <p:sp>
        <p:nvSpPr>
          <p:cNvPr id="160" name="Google Shape;160;p10"/>
          <p:cNvSpPr/>
          <p:nvPr/>
        </p:nvSpPr>
        <p:spPr>
          <a:xfrm>
            <a:off x="3383280" y="1920240"/>
            <a:ext cx="2560320" cy="3520440"/>
          </a:xfrm>
          <a:prstGeom prst="roundRect">
            <a:avLst>
              <a:gd fmla="val 428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0"/>
          <p:cNvSpPr/>
          <p:nvPr/>
        </p:nvSpPr>
        <p:spPr>
          <a:xfrm>
            <a:off x="3657600" y="2240280"/>
            <a:ext cx="914400" cy="914400"/>
          </a:xfrm>
          <a:prstGeom prst="ellipse">
            <a:avLst/>
          </a:prstGeom>
          <a:solidFill>
            <a:srgbClr val="F339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andHoldingHeart icon" id="162" name="Google Shape;162;p10"/>
          <p:cNvPicPr preferRelativeResize="0"/>
          <p:nvPr/>
        </p:nvPicPr>
        <p:blipFill rotWithShape="1">
          <a:blip r:embed="rId4">
            <a:alphaModFix/>
          </a:blip>
          <a:srcRect b="0" l="0" r="0" t="0"/>
          <a:stretch/>
        </p:blipFill>
        <p:spPr>
          <a:xfrm>
            <a:off x="3886200" y="2468880"/>
            <a:ext cx="457200" cy="457200"/>
          </a:xfrm>
          <a:prstGeom prst="rect">
            <a:avLst/>
          </a:prstGeom>
          <a:noFill/>
          <a:ln>
            <a:noFill/>
          </a:ln>
        </p:spPr>
      </p:pic>
      <p:sp>
        <p:nvSpPr>
          <p:cNvPr id="163" name="Google Shape;163;p10"/>
          <p:cNvSpPr txBox="1"/>
          <p:nvPr/>
        </p:nvSpPr>
        <p:spPr>
          <a:xfrm>
            <a:off x="3657600" y="3429000"/>
            <a:ext cx="21031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Affordable treatment</a:t>
            </a:r>
            <a:endParaRPr b="0" i="0" sz="2000" u="none" cap="none" strike="noStrike">
              <a:solidFill>
                <a:schemeClr val="dk1"/>
              </a:solidFill>
              <a:latin typeface="Calibri"/>
              <a:ea typeface="Calibri"/>
              <a:cs typeface="Calibri"/>
              <a:sym typeface="Calibri"/>
            </a:endParaRPr>
          </a:p>
        </p:txBody>
      </p:sp>
      <p:sp>
        <p:nvSpPr>
          <p:cNvPr id="164" name="Google Shape;164;p10"/>
          <p:cNvSpPr txBox="1"/>
          <p:nvPr/>
        </p:nvSpPr>
        <p:spPr>
          <a:xfrm>
            <a:off x="3657600" y="4206240"/>
            <a:ext cx="21031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Care that does not force families to choose between cost and care.</a:t>
            </a:r>
            <a:endParaRPr b="0" i="0" sz="1500" u="none" cap="none" strike="noStrike">
              <a:solidFill>
                <a:schemeClr val="dk1"/>
              </a:solidFill>
              <a:latin typeface="Calibri"/>
              <a:ea typeface="Calibri"/>
              <a:cs typeface="Calibri"/>
              <a:sym typeface="Calibri"/>
            </a:endParaRPr>
          </a:p>
        </p:txBody>
      </p:sp>
      <p:sp>
        <p:nvSpPr>
          <p:cNvPr id="165" name="Google Shape;165;p10"/>
          <p:cNvSpPr/>
          <p:nvPr/>
        </p:nvSpPr>
        <p:spPr>
          <a:xfrm>
            <a:off x="6217920" y="1920240"/>
            <a:ext cx="2560320" cy="3520440"/>
          </a:xfrm>
          <a:prstGeom prst="roundRect">
            <a:avLst>
              <a:gd fmla="val 428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0"/>
          <p:cNvSpPr/>
          <p:nvPr/>
        </p:nvSpPr>
        <p:spPr>
          <a:xfrm>
            <a:off x="6492240" y="2240280"/>
            <a:ext cx="914400" cy="914400"/>
          </a:xfrm>
          <a:prstGeom prst="ellipse">
            <a:avLst/>
          </a:prstGeom>
          <a:solidFill>
            <a:srgbClr val="F339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alking icon" id="167" name="Google Shape;167;p10"/>
          <p:cNvPicPr preferRelativeResize="0"/>
          <p:nvPr/>
        </p:nvPicPr>
        <p:blipFill rotWithShape="1">
          <a:blip r:embed="rId5">
            <a:alphaModFix/>
          </a:blip>
          <a:srcRect b="0" l="0" r="0" t="0"/>
          <a:stretch/>
        </p:blipFill>
        <p:spPr>
          <a:xfrm>
            <a:off x="6720840" y="2468880"/>
            <a:ext cx="457200" cy="457200"/>
          </a:xfrm>
          <a:prstGeom prst="rect">
            <a:avLst/>
          </a:prstGeom>
          <a:noFill/>
          <a:ln>
            <a:noFill/>
          </a:ln>
        </p:spPr>
      </p:pic>
      <p:sp>
        <p:nvSpPr>
          <p:cNvPr id="168" name="Google Shape;168;p10"/>
          <p:cNvSpPr txBox="1"/>
          <p:nvPr/>
        </p:nvSpPr>
        <p:spPr>
          <a:xfrm>
            <a:off x="6492240" y="3429000"/>
            <a:ext cx="21031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Continuous rehabilitation</a:t>
            </a:r>
            <a:endParaRPr b="0" i="0" sz="2000" u="none" cap="none" strike="noStrike">
              <a:solidFill>
                <a:schemeClr val="dk1"/>
              </a:solidFill>
              <a:latin typeface="Calibri"/>
              <a:ea typeface="Calibri"/>
              <a:cs typeface="Calibri"/>
              <a:sym typeface="Calibri"/>
            </a:endParaRPr>
          </a:p>
        </p:txBody>
      </p:sp>
      <p:sp>
        <p:nvSpPr>
          <p:cNvPr id="169" name="Google Shape;169;p10"/>
          <p:cNvSpPr txBox="1"/>
          <p:nvPr/>
        </p:nvSpPr>
        <p:spPr>
          <a:xfrm>
            <a:off x="6492240" y="4206240"/>
            <a:ext cx="21031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Ongoing therapy, not a one-time fix.</a:t>
            </a:r>
            <a:endParaRPr b="0" i="0" sz="1500" u="none" cap="none" strike="noStrike">
              <a:solidFill>
                <a:schemeClr val="dk1"/>
              </a:solidFill>
              <a:latin typeface="Calibri"/>
              <a:ea typeface="Calibri"/>
              <a:cs typeface="Calibri"/>
              <a:sym typeface="Calibri"/>
            </a:endParaRPr>
          </a:p>
        </p:txBody>
      </p:sp>
      <p:sp>
        <p:nvSpPr>
          <p:cNvPr id="170" name="Google Shape;170;p10"/>
          <p:cNvSpPr/>
          <p:nvPr/>
        </p:nvSpPr>
        <p:spPr>
          <a:xfrm>
            <a:off x="9052560" y="1920240"/>
            <a:ext cx="2560320" cy="3520440"/>
          </a:xfrm>
          <a:prstGeom prst="roundRect">
            <a:avLst>
              <a:gd fmla="val 428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0"/>
          <p:cNvSpPr/>
          <p:nvPr/>
        </p:nvSpPr>
        <p:spPr>
          <a:xfrm>
            <a:off x="9326880" y="2240280"/>
            <a:ext cx="914400" cy="914400"/>
          </a:xfrm>
          <a:prstGeom prst="ellipse">
            <a:avLst/>
          </a:prstGeom>
          <a:solidFill>
            <a:srgbClr val="F339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heelchair icon" id="172" name="Google Shape;172;p10"/>
          <p:cNvPicPr preferRelativeResize="0"/>
          <p:nvPr/>
        </p:nvPicPr>
        <p:blipFill rotWithShape="1">
          <a:blip r:embed="rId6">
            <a:alphaModFix/>
          </a:blip>
          <a:srcRect b="0" l="0" r="0" t="0"/>
          <a:stretch/>
        </p:blipFill>
        <p:spPr>
          <a:xfrm>
            <a:off x="9555480" y="2468880"/>
            <a:ext cx="457200" cy="457200"/>
          </a:xfrm>
          <a:prstGeom prst="rect">
            <a:avLst/>
          </a:prstGeom>
          <a:noFill/>
          <a:ln>
            <a:noFill/>
          </a:ln>
        </p:spPr>
      </p:pic>
      <p:sp>
        <p:nvSpPr>
          <p:cNvPr id="173" name="Google Shape;173;p10"/>
          <p:cNvSpPr txBox="1"/>
          <p:nvPr/>
        </p:nvSpPr>
        <p:spPr>
          <a:xfrm>
            <a:off x="9326880" y="3429000"/>
            <a:ext cx="21031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Long-term mobility support</a:t>
            </a:r>
            <a:endParaRPr b="0" i="0" sz="2000" u="none" cap="none" strike="noStrike">
              <a:solidFill>
                <a:schemeClr val="dk1"/>
              </a:solidFill>
              <a:latin typeface="Calibri"/>
              <a:ea typeface="Calibri"/>
              <a:cs typeface="Calibri"/>
              <a:sym typeface="Calibri"/>
            </a:endParaRPr>
          </a:p>
        </p:txBody>
      </p:sp>
      <p:sp>
        <p:nvSpPr>
          <p:cNvPr id="174" name="Google Shape;174;p10"/>
          <p:cNvSpPr txBox="1"/>
          <p:nvPr/>
        </p:nvSpPr>
        <p:spPr>
          <a:xfrm>
            <a:off x="9326880" y="4206240"/>
            <a:ext cx="21031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A trusted ecosystem for the whole recovery journey.</a:t>
            </a:r>
            <a:endParaRPr b="0" i="0" sz="1500" u="none" cap="none" strike="noStrike">
              <a:solidFill>
                <a:schemeClr val="dk1"/>
              </a:solidFill>
              <a:latin typeface="Calibri"/>
              <a:ea typeface="Calibri"/>
              <a:cs typeface="Calibri"/>
              <a:sym typeface="Calibri"/>
            </a:endParaRPr>
          </a:p>
        </p:txBody>
      </p:sp>
      <p:sp>
        <p:nvSpPr>
          <p:cNvPr id="175" name="Google Shape;175;p10"/>
          <p:cNvSpPr txBox="1"/>
          <p:nvPr/>
        </p:nvSpPr>
        <p:spPr>
          <a:xfrm>
            <a:off x="548640" y="5715000"/>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2000"/>
              <a:buFont typeface="Calibri"/>
              <a:buNone/>
            </a:pPr>
            <a:r>
              <a:rPr b="1" i="0" lang="en-US" sz="2000" u="none" cap="none" strike="noStrike">
                <a:solidFill>
                  <a:schemeClr val="dk2"/>
                </a:solidFill>
                <a:latin typeface="Calibri"/>
                <a:ea typeface="Calibri"/>
                <a:cs typeface="Calibri"/>
                <a:sym typeface="Calibri"/>
              </a:rPr>
              <a:t>Owners need all four in one place. ResQ is built around them.</a:t>
            </a:r>
            <a:endParaRPr b="0" i="0" sz="2000" u="none" cap="none" strike="noStrike">
              <a:solidFill>
                <a:schemeClr val="dk1"/>
              </a:solidFill>
              <a:latin typeface="Calibri"/>
              <a:ea typeface="Calibri"/>
              <a:cs typeface="Calibri"/>
              <a:sym typeface="Calibri"/>
            </a:endParaRPr>
          </a:p>
        </p:txBody>
      </p:sp>
      <p:sp>
        <p:nvSpPr>
          <p:cNvPr id="176" name="Google Shape;176;p10"/>
          <p:cNvSpPr txBox="1"/>
          <p:nvPr>
            <p:ph idx="4294967295" type="sldNum"/>
          </p:nvPr>
        </p:nvSpPr>
        <p:spPr>
          <a:xfrm>
            <a:off x="1097280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1"/>
          <p:cNvSpPr txBox="1"/>
          <p:nvPr>
            <p:ph type="title"/>
          </p:nvPr>
        </p:nvSpPr>
        <p:spPr>
          <a:xfrm>
            <a:off x="548640" y="384048"/>
            <a:ext cx="950976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Our current competitor is Supertails: strong on products and clinics, not on mobility</a:t>
            </a:r>
            <a:endParaRPr sz="3000"/>
          </a:p>
        </p:txBody>
      </p:sp>
      <p:pic>
        <p:nvPicPr>
          <p:cNvPr id="183" name="Google Shape;183;p11"/>
          <p:cNvPicPr preferRelativeResize="0"/>
          <p:nvPr/>
        </p:nvPicPr>
        <p:blipFill rotWithShape="1">
          <a:blip r:embed="rId3">
            <a:alphaModFix/>
          </a:blip>
          <a:srcRect b="0" l="0" r="0" t="0"/>
          <a:stretch/>
        </p:blipFill>
        <p:spPr>
          <a:xfrm>
            <a:off x="548640" y="1691640"/>
            <a:ext cx="5486400" cy="4069080"/>
          </a:xfrm>
          <a:prstGeom prst="rect">
            <a:avLst/>
          </a:prstGeom>
          <a:noFill/>
          <a:ln>
            <a:noFill/>
          </a:ln>
        </p:spPr>
      </p:pic>
      <p:sp>
        <p:nvSpPr>
          <p:cNvPr id="184" name="Google Shape;184;p11"/>
          <p:cNvSpPr txBox="1"/>
          <p:nvPr/>
        </p:nvSpPr>
        <p:spPr>
          <a:xfrm>
            <a:off x="548640" y="5852160"/>
            <a:ext cx="5486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100"/>
              <a:buFont typeface="Calibri"/>
              <a:buNone/>
            </a:pPr>
            <a:r>
              <a:rPr b="0" i="0" lang="en-US" sz="1100" u="none" cap="none" strike="noStrike">
                <a:solidFill>
                  <a:schemeClr val="accent6"/>
                </a:solidFill>
                <a:latin typeface="Calibri"/>
                <a:ea typeface="Calibri"/>
                <a:cs typeface="Calibri"/>
                <a:sym typeface="Calibri"/>
              </a:rPr>
              <a:t>Sources: Entrackr (FY25 revenue and funding); Business Standard, Feb 2026 (clinics, customers). Loss in FY25 was ₹52 crore.</a:t>
            </a:r>
            <a:endParaRPr b="0" i="0" sz="1100" u="none" cap="none" strike="noStrike">
              <a:solidFill>
                <a:schemeClr val="dk1"/>
              </a:solidFill>
              <a:latin typeface="Calibri"/>
              <a:ea typeface="Calibri"/>
              <a:cs typeface="Calibri"/>
              <a:sym typeface="Calibri"/>
            </a:endParaRPr>
          </a:p>
        </p:txBody>
      </p:sp>
      <p:sp>
        <p:nvSpPr>
          <p:cNvPr id="185" name="Google Shape;185;p11"/>
          <p:cNvSpPr/>
          <p:nvPr/>
        </p:nvSpPr>
        <p:spPr>
          <a:xfrm>
            <a:off x="6355080" y="1783080"/>
            <a:ext cx="5285232" cy="1280160"/>
          </a:xfrm>
          <a:prstGeom prst="roundRect">
            <a:avLst>
              <a:gd fmla="val 857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a:off x="6583680" y="2075688"/>
            <a:ext cx="685800" cy="685800"/>
          </a:xfrm>
          <a:prstGeom prst="ellipse">
            <a:avLst/>
          </a:prstGeom>
          <a:solidFill>
            <a:srgbClr val="2F2A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tore icon" id="187" name="Google Shape;187;p11"/>
          <p:cNvPicPr preferRelativeResize="0"/>
          <p:nvPr/>
        </p:nvPicPr>
        <p:blipFill rotWithShape="1">
          <a:blip r:embed="rId4">
            <a:alphaModFix/>
          </a:blip>
          <a:srcRect b="0" l="0" r="0" t="0"/>
          <a:stretch/>
        </p:blipFill>
        <p:spPr>
          <a:xfrm>
            <a:off x="6755130" y="2247138"/>
            <a:ext cx="342900" cy="342900"/>
          </a:xfrm>
          <a:prstGeom prst="rect">
            <a:avLst/>
          </a:prstGeom>
          <a:noFill/>
          <a:ln>
            <a:noFill/>
          </a:ln>
        </p:spPr>
      </p:pic>
      <p:sp>
        <p:nvSpPr>
          <p:cNvPr id="188" name="Google Shape;188;p11"/>
          <p:cNvSpPr txBox="1"/>
          <p:nvPr/>
        </p:nvSpPr>
        <p:spPr>
          <a:xfrm>
            <a:off x="7543800" y="1920240"/>
            <a:ext cx="39319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What Supertails sells</a:t>
            </a:r>
            <a:endParaRPr b="0" i="0" sz="1800" u="none" cap="none" strike="noStrike">
              <a:solidFill>
                <a:schemeClr val="dk1"/>
              </a:solidFill>
              <a:latin typeface="Calibri"/>
              <a:ea typeface="Calibri"/>
              <a:cs typeface="Calibri"/>
              <a:sym typeface="Calibri"/>
            </a:endParaRPr>
          </a:p>
        </p:txBody>
      </p:sp>
      <p:sp>
        <p:nvSpPr>
          <p:cNvPr id="189" name="Google Shape;189;p11"/>
          <p:cNvSpPr txBox="1"/>
          <p:nvPr/>
        </p:nvSpPr>
        <p:spPr>
          <a:xfrm>
            <a:off x="7543800" y="2313432"/>
            <a:ext cx="3931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Pet products with quick delivery, at-home vet visits and a growing clinic network.</a:t>
            </a:r>
            <a:endParaRPr b="0" i="0" sz="1500" u="none" cap="none" strike="noStrike">
              <a:solidFill>
                <a:schemeClr val="dk1"/>
              </a:solidFill>
              <a:latin typeface="Calibri"/>
              <a:ea typeface="Calibri"/>
              <a:cs typeface="Calibri"/>
              <a:sym typeface="Calibri"/>
            </a:endParaRPr>
          </a:p>
        </p:txBody>
      </p:sp>
      <p:sp>
        <p:nvSpPr>
          <p:cNvPr id="190" name="Google Shape;190;p11"/>
          <p:cNvSpPr/>
          <p:nvPr/>
        </p:nvSpPr>
        <p:spPr>
          <a:xfrm>
            <a:off x="6355080" y="3246120"/>
            <a:ext cx="5285232" cy="1280160"/>
          </a:xfrm>
          <a:prstGeom prst="roundRect">
            <a:avLst>
              <a:gd fmla="val 857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a:off x="6583680" y="3538728"/>
            <a:ext cx="685800" cy="685800"/>
          </a:xfrm>
          <a:prstGeom prst="ellipse">
            <a:avLst/>
          </a:prstGeom>
          <a:solidFill>
            <a:srgbClr val="2F2A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rtLine icon" id="192" name="Google Shape;192;p11"/>
          <p:cNvPicPr preferRelativeResize="0"/>
          <p:nvPr/>
        </p:nvPicPr>
        <p:blipFill rotWithShape="1">
          <a:blip r:embed="rId5">
            <a:alphaModFix/>
          </a:blip>
          <a:srcRect b="0" l="0" r="0" t="0"/>
          <a:stretch/>
        </p:blipFill>
        <p:spPr>
          <a:xfrm>
            <a:off x="6755130" y="3710178"/>
            <a:ext cx="342900" cy="342900"/>
          </a:xfrm>
          <a:prstGeom prst="rect">
            <a:avLst/>
          </a:prstGeom>
          <a:noFill/>
          <a:ln>
            <a:noFill/>
          </a:ln>
        </p:spPr>
      </p:pic>
      <p:sp>
        <p:nvSpPr>
          <p:cNvPr id="193" name="Google Shape;193;p11"/>
          <p:cNvSpPr txBox="1"/>
          <p:nvPr/>
        </p:nvSpPr>
        <p:spPr>
          <a:xfrm>
            <a:off x="7543800" y="3383280"/>
            <a:ext cx="39319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How big it is</a:t>
            </a:r>
            <a:endParaRPr b="0" i="0" sz="1800" u="none" cap="none" strike="noStrike">
              <a:solidFill>
                <a:schemeClr val="dk1"/>
              </a:solidFill>
              <a:latin typeface="Calibri"/>
              <a:ea typeface="Calibri"/>
              <a:cs typeface="Calibri"/>
              <a:sym typeface="Calibri"/>
            </a:endParaRPr>
          </a:p>
        </p:txBody>
      </p:sp>
      <p:sp>
        <p:nvSpPr>
          <p:cNvPr id="194" name="Google Shape;194;p11"/>
          <p:cNvSpPr txBox="1"/>
          <p:nvPr/>
        </p:nvSpPr>
        <p:spPr>
          <a:xfrm>
            <a:off x="7543800" y="3776472"/>
            <a:ext cx="3931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Close to 1 million pet parents and about $51M raised, including a $30M round in 2026.</a:t>
            </a:r>
            <a:endParaRPr b="0" i="0" sz="1500" u="none" cap="none" strike="noStrike">
              <a:solidFill>
                <a:schemeClr val="dk1"/>
              </a:solidFill>
              <a:latin typeface="Calibri"/>
              <a:ea typeface="Calibri"/>
              <a:cs typeface="Calibri"/>
              <a:sym typeface="Calibri"/>
            </a:endParaRPr>
          </a:p>
        </p:txBody>
      </p:sp>
      <p:sp>
        <p:nvSpPr>
          <p:cNvPr id="195" name="Google Shape;195;p11"/>
          <p:cNvSpPr/>
          <p:nvPr/>
        </p:nvSpPr>
        <p:spPr>
          <a:xfrm>
            <a:off x="6355080" y="4709160"/>
            <a:ext cx="5285232" cy="1280160"/>
          </a:xfrm>
          <a:prstGeom prst="roundRect">
            <a:avLst>
              <a:gd fmla="val 8571"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a:off x="6583680" y="5001768"/>
            <a:ext cx="685800" cy="685800"/>
          </a:xfrm>
          <a:prstGeom prst="ellipse">
            <a:avLst/>
          </a:prstGeom>
          <a:solidFill>
            <a:srgbClr val="F339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Bullseye icon" id="197" name="Google Shape;197;p11"/>
          <p:cNvPicPr preferRelativeResize="0"/>
          <p:nvPr/>
        </p:nvPicPr>
        <p:blipFill rotWithShape="1">
          <a:blip r:embed="rId6">
            <a:alphaModFix/>
          </a:blip>
          <a:srcRect b="0" l="0" r="0" t="0"/>
          <a:stretch/>
        </p:blipFill>
        <p:spPr>
          <a:xfrm>
            <a:off x="6755130" y="5173218"/>
            <a:ext cx="342900" cy="342900"/>
          </a:xfrm>
          <a:prstGeom prst="rect">
            <a:avLst/>
          </a:prstGeom>
          <a:noFill/>
          <a:ln>
            <a:noFill/>
          </a:ln>
        </p:spPr>
      </p:pic>
      <p:sp>
        <p:nvSpPr>
          <p:cNvPr id="198" name="Google Shape;198;p11"/>
          <p:cNvSpPr txBox="1"/>
          <p:nvPr/>
        </p:nvSpPr>
        <p:spPr>
          <a:xfrm>
            <a:off x="7543800" y="4846320"/>
            <a:ext cx="39319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The gap we target</a:t>
            </a:r>
            <a:endParaRPr b="0" i="0" sz="1800" u="none" cap="none" strike="noStrike">
              <a:solidFill>
                <a:schemeClr val="dk1"/>
              </a:solidFill>
              <a:latin typeface="Calibri"/>
              <a:ea typeface="Calibri"/>
              <a:cs typeface="Calibri"/>
              <a:sym typeface="Calibri"/>
            </a:endParaRPr>
          </a:p>
        </p:txBody>
      </p:sp>
      <p:sp>
        <p:nvSpPr>
          <p:cNvPr id="199" name="Google Shape;199;p11"/>
          <p:cNvSpPr txBox="1"/>
          <p:nvPr/>
        </p:nvSpPr>
        <p:spPr>
          <a:xfrm>
            <a:off x="7543800" y="5239512"/>
            <a:ext cx="3931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Mobility and rehabilitation are not part of its stated focus. ResQ is built around them, wheelchair included.</a:t>
            </a:r>
            <a:endParaRPr b="0" i="0" sz="1500" u="none" cap="none" strike="noStrike">
              <a:solidFill>
                <a:schemeClr val="dk1"/>
              </a:solidFill>
              <a:latin typeface="Calibri"/>
              <a:ea typeface="Calibri"/>
              <a:cs typeface="Calibri"/>
              <a:sym typeface="Calibri"/>
            </a:endParaRPr>
          </a:p>
        </p:txBody>
      </p:sp>
      <p:sp>
        <p:nvSpPr>
          <p:cNvPr id="200" name="Google Shape;200;p11"/>
          <p:cNvSpPr txBox="1"/>
          <p:nvPr>
            <p:ph idx="4294967295" type="sldNum"/>
          </p:nvPr>
        </p:nvSpPr>
        <p:spPr>
          <a:xfrm>
            <a:off x="1097280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2"/>
          <p:cNvSpPr txBox="1"/>
          <p:nvPr>
            <p:ph type="title"/>
          </p:nvPr>
        </p:nvSpPr>
        <p:spPr>
          <a:xfrm>
            <a:off x="548640" y="384048"/>
            <a:ext cx="950976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One subscription: a wheelchair included, affordable care and continuous rehabilitation</a:t>
            </a:r>
            <a:endParaRPr sz="3000"/>
          </a:p>
        </p:txBody>
      </p:sp>
      <p:sp>
        <p:nvSpPr>
          <p:cNvPr id="207" name="Google Shape;207;p12"/>
          <p:cNvSpPr/>
          <p:nvPr/>
        </p:nvSpPr>
        <p:spPr>
          <a:xfrm>
            <a:off x="548640" y="1737360"/>
            <a:ext cx="3547872" cy="2514600"/>
          </a:xfrm>
          <a:prstGeom prst="roundRect">
            <a:avLst>
              <a:gd fmla="val 4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2"/>
          <p:cNvSpPr/>
          <p:nvPr/>
        </p:nvSpPr>
        <p:spPr>
          <a:xfrm>
            <a:off x="822960" y="1965960"/>
            <a:ext cx="640080" cy="640080"/>
          </a:xfrm>
          <a:prstGeom prst="ellipse">
            <a:avLst/>
          </a:prstGeom>
          <a:solidFill>
            <a:srgbClr val="F339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heelchair icon" id="209" name="Google Shape;209;p12"/>
          <p:cNvPicPr preferRelativeResize="0"/>
          <p:nvPr/>
        </p:nvPicPr>
        <p:blipFill rotWithShape="1">
          <a:blip r:embed="rId3">
            <a:alphaModFix/>
          </a:blip>
          <a:srcRect b="0" l="0" r="0" t="0"/>
          <a:stretch/>
        </p:blipFill>
        <p:spPr>
          <a:xfrm>
            <a:off x="982980" y="2125980"/>
            <a:ext cx="320040" cy="320040"/>
          </a:xfrm>
          <a:prstGeom prst="rect">
            <a:avLst/>
          </a:prstGeom>
          <a:noFill/>
          <a:ln>
            <a:noFill/>
          </a:ln>
        </p:spPr>
      </p:pic>
      <p:sp>
        <p:nvSpPr>
          <p:cNvPr id="210" name="Google Shape;210;p12"/>
          <p:cNvSpPr txBox="1"/>
          <p:nvPr/>
        </p:nvSpPr>
        <p:spPr>
          <a:xfrm>
            <a:off x="1645920" y="1965960"/>
            <a:ext cx="2286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Mobility</a:t>
            </a:r>
            <a:endParaRPr b="0" i="0" sz="2400" u="none" cap="none" strike="noStrike">
              <a:solidFill>
                <a:schemeClr val="dk1"/>
              </a:solidFill>
              <a:latin typeface="Calibri"/>
              <a:ea typeface="Calibri"/>
              <a:cs typeface="Calibri"/>
              <a:sym typeface="Calibri"/>
            </a:endParaRPr>
          </a:p>
        </p:txBody>
      </p:sp>
      <p:sp>
        <p:nvSpPr>
          <p:cNvPr id="211" name="Google Shape;211;p12"/>
          <p:cNvSpPr txBox="1"/>
          <p:nvPr/>
        </p:nvSpPr>
        <p:spPr>
          <a:xfrm>
            <a:off x="822960" y="2788920"/>
            <a:ext cx="3017520" cy="13716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A wheelchair included with the subscription</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Locally engineered, patent owned by ResQ</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Continuous rehabilitation</a:t>
            </a:r>
            <a:endParaRPr b="0" i="0" sz="1500" u="none" cap="none" strike="noStrike">
              <a:solidFill>
                <a:schemeClr val="dk1"/>
              </a:solidFill>
              <a:latin typeface="Calibri"/>
              <a:ea typeface="Calibri"/>
              <a:cs typeface="Calibri"/>
              <a:sym typeface="Calibri"/>
            </a:endParaRPr>
          </a:p>
        </p:txBody>
      </p:sp>
      <p:sp>
        <p:nvSpPr>
          <p:cNvPr id="212" name="Google Shape;212;p12"/>
          <p:cNvSpPr/>
          <p:nvPr/>
        </p:nvSpPr>
        <p:spPr>
          <a:xfrm>
            <a:off x="4315968" y="1737360"/>
            <a:ext cx="3547872" cy="2514600"/>
          </a:xfrm>
          <a:prstGeom prst="roundRect">
            <a:avLst>
              <a:gd fmla="val 4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2"/>
          <p:cNvSpPr/>
          <p:nvPr/>
        </p:nvSpPr>
        <p:spPr>
          <a:xfrm>
            <a:off x="4590288" y="1965960"/>
            <a:ext cx="640080" cy="640080"/>
          </a:xfrm>
          <a:prstGeom prst="ellipse">
            <a:avLst/>
          </a:prstGeom>
          <a:solidFill>
            <a:srgbClr val="F339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tethoscope icon" id="214" name="Google Shape;214;p12"/>
          <p:cNvPicPr preferRelativeResize="0"/>
          <p:nvPr/>
        </p:nvPicPr>
        <p:blipFill rotWithShape="1">
          <a:blip r:embed="rId4">
            <a:alphaModFix/>
          </a:blip>
          <a:srcRect b="0" l="0" r="0" t="0"/>
          <a:stretch/>
        </p:blipFill>
        <p:spPr>
          <a:xfrm>
            <a:off x="4750308" y="2125980"/>
            <a:ext cx="320040" cy="320040"/>
          </a:xfrm>
          <a:prstGeom prst="rect">
            <a:avLst/>
          </a:prstGeom>
          <a:noFill/>
          <a:ln>
            <a:noFill/>
          </a:ln>
        </p:spPr>
      </p:pic>
      <p:sp>
        <p:nvSpPr>
          <p:cNvPr id="215" name="Google Shape;215;p12"/>
          <p:cNvSpPr txBox="1"/>
          <p:nvPr/>
        </p:nvSpPr>
        <p:spPr>
          <a:xfrm>
            <a:off x="5413248" y="1965960"/>
            <a:ext cx="2286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Care</a:t>
            </a:r>
            <a:endParaRPr b="0" i="0" sz="2400" u="none" cap="none" strike="noStrike">
              <a:solidFill>
                <a:schemeClr val="dk1"/>
              </a:solidFill>
              <a:latin typeface="Calibri"/>
              <a:ea typeface="Calibri"/>
              <a:cs typeface="Calibri"/>
              <a:sym typeface="Calibri"/>
            </a:endParaRPr>
          </a:p>
        </p:txBody>
      </p:sp>
      <p:sp>
        <p:nvSpPr>
          <p:cNvPr id="216" name="Google Shape;216;p12"/>
          <p:cNvSpPr txBox="1"/>
          <p:nvPr/>
        </p:nvSpPr>
        <p:spPr>
          <a:xfrm>
            <a:off x="4590288" y="2788920"/>
            <a:ext cx="3017520" cy="13716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Cheap, quick vet appointments</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Specialist matching</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Affordable treatment and medicines</a:t>
            </a:r>
            <a:endParaRPr b="0" i="0" sz="1500" u="none" cap="none" strike="noStrike">
              <a:solidFill>
                <a:schemeClr val="dk1"/>
              </a:solidFill>
              <a:latin typeface="Calibri"/>
              <a:ea typeface="Calibri"/>
              <a:cs typeface="Calibri"/>
              <a:sym typeface="Calibri"/>
            </a:endParaRPr>
          </a:p>
        </p:txBody>
      </p:sp>
      <p:sp>
        <p:nvSpPr>
          <p:cNvPr id="217" name="Google Shape;217;p12"/>
          <p:cNvSpPr/>
          <p:nvPr/>
        </p:nvSpPr>
        <p:spPr>
          <a:xfrm>
            <a:off x="8083296" y="1737360"/>
            <a:ext cx="3547872" cy="2514600"/>
          </a:xfrm>
          <a:prstGeom prst="roundRect">
            <a:avLst>
              <a:gd fmla="val 4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2"/>
          <p:cNvSpPr/>
          <p:nvPr/>
        </p:nvSpPr>
        <p:spPr>
          <a:xfrm>
            <a:off x="8357616" y="1965960"/>
            <a:ext cx="640080" cy="640080"/>
          </a:xfrm>
          <a:prstGeom prst="ellipse">
            <a:avLst/>
          </a:prstGeom>
          <a:solidFill>
            <a:srgbClr val="F339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pa icon" id="219" name="Google Shape;219;p12"/>
          <p:cNvPicPr preferRelativeResize="0"/>
          <p:nvPr/>
        </p:nvPicPr>
        <p:blipFill rotWithShape="1">
          <a:blip r:embed="rId5">
            <a:alphaModFix/>
          </a:blip>
          <a:srcRect b="0" l="0" r="0" t="0"/>
          <a:stretch/>
        </p:blipFill>
        <p:spPr>
          <a:xfrm>
            <a:off x="8517636" y="2125980"/>
            <a:ext cx="320040" cy="320040"/>
          </a:xfrm>
          <a:prstGeom prst="rect">
            <a:avLst/>
          </a:prstGeom>
          <a:noFill/>
          <a:ln>
            <a:noFill/>
          </a:ln>
        </p:spPr>
      </p:pic>
      <p:sp>
        <p:nvSpPr>
          <p:cNvPr id="220" name="Google Shape;220;p12"/>
          <p:cNvSpPr txBox="1"/>
          <p:nvPr/>
        </p:nvSpPr>
        <p:spPr>
          <a:xfrm>
            <a:off x="9180576" y="1965960"/>
            <a:ext cx="2286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Wellness</a:t>
            </a:r>
            <a:endParaRPr b="0" i="0" sz="2400" u="none" cap="none" strike="noStrike">
              <a:solidFill>
                <a:schemeClr val="dk1"/>
              </a:solidFill>
              <a:latin typeface="Calibri"/>
              <a:ea typeface="Calibri"/>
              <a:cs typeface="Calibri"/>
              <a:sym typeface="Calibri"/>
            </a:endParaRPr>
          </a:p>
        </p:txBody>
      </p:sp>
      <p:sp>
        <p:nvSpPr>
          <p:cNvPr id="221" name="Google Shape;221;p12"/>
          <p:cNvSpPr txBox="1"/>
          <p:nvPr/>
        </p:nvSpPr>
        <p:spPr>
          <a:xfrm>
            <a:off x="8357616" y="2788920"/>
            <a:ext cx="3017520" cy="13716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Grooming and spa</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Red light therapy</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One place for a pet's health and wellbeing</a:t>
            </a:r>
            <a:endParaRPr b="0" i="0" sz="1500" u="none" cap="none" strike="noStrike">
              <a:solidFill>
                <a:schemeClr val="dk1"/>
              </a:solidFill>
              <a:latin typeface="Calibri"/>
              <a:ea typeface="Calibri"/>
              <a:cs typeface="Calibri"/>
              <a:sym typeface="Calibri"/>
            </a:endParaRPr>
          </a:p>
        </p:txBody>
      </p:sp>
      <p:sp>
        <p:nvSpPr>
          <p:cNvPr id="222" name="Google Shape;222;p12"/>
          <p:cNvSpPr txBox="1"/>
          <p:nvPr/>
        </p:nvSpPr>
        <p:spPr>
          <a:xfrm>
            <a:off x="548640" y="4480560"/>
            <a:ext cx="54864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300"/>
              <a:buFont typeface="Calibri"/>
              <a:buNone/>
            </a:pPr>
            <a:r>
              <a:rPr b="1" i="0" lang="en-US" sz="1300" u="none" cap="none" strike="noStrike">
                <a:solidFill>
                  <a:schemeClr val="accent1"/>
                </a:solidFill>
                <a:latin typeface="Calibri"/>
                <a:ea typeface="Calibri"/>
                <a:cs typeface="Calibri"/>
                <a:sym typeface="Calibri"/>
              </a:rPr>
              <a:t>THE OWNER'S JOURNEY</a:t>
            </a:r>
            <a:endParaRPr b="0" i="0" sz="1300" u="none" cap="none" strike="noStrike">
              <a:solidFill>
                <a:schemeClr val="dk1"/>
              </a:solidFill>
              <a:latin typeface="Calibri"/>
              <a:ea typeface="Calibri"/>
              <a:cs typeface="Calibri"/>
              <a:sym typeface="Calibri"/>
            </a:endParaRPr>
          </a:p>
        </p:txBody>
      </p:sp>
      <p:sp>
        <p:nvSpPr>
          <p:cNvPr id="223" name="Google Shape;223;p12"/>
          <p:cNvSpPr/>
          <p:nvPr/>
        </p:nvSpPr>
        <p:spPr>
          <a:xfrm>
            <a:off x="548640" y="4846320"/>
            <a:ext cx="1828800" cy="1005840"/>
          </a:xfrm>
          <a:prstGeom prst="roundRect">
            <a:avLst>
              <a:gd fmla="val 10909"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
          <p:cNvSpPr txBox="1"/>
          <p:nvPr/>
        </p:nvSpPr>
        <p:spPr>
          <a:xfrm>
            <a:off x="685800" y="4846320"/>
            <a:ext cx="1554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1" i="0" lang="en-US" sz="1500" u="none" cap="none" strike="noStrike">
                <a:solidFill>
                  <a:schemeClr val="lt1"/>
                </a:solidFill>
                <a:latin typeface="Calibri"/>
                <a:ea typeface="Calibri"/>
                <a:cs typeface="Calibri"/>
                <a:sym typeface="Calibri"/>
              </a:rPr>
              <a:t>1  Wheelchair included</a:t>
            </a:r>
            <a:endParaRPr b="0" i="0" sz="1500" u="none" cap="none" strike="noStrike">
              <a:solidFill>
                <a:schemeClr val="dk1"/>
              </a:solidFill>
              <a:latin typeface="Calibri"/>
              <a:ea typeface="Calibri"/>
              <a:cs typeface="Calibri"/>
              <a:sym typeface="Calibri"/>
            </a:endParaRPr>
          </a:p>
        </p:txBody>
      </p:sp>
      <p:sp>
        <p:nvSpPr>
          <p:cNvPr id="225" name="Google Shape;225;p12"/>
          <p:cNvSpPr/>
          <p:nvPr/>
        </p:nvSpPr>
        <p:spPr>
          <a:xfrm>
            <a:off x="2441448" y="5212080"/>
            <a:ext cx="329184" cy="274320"/>
          </a:xfrm>
          <a:prstGeom prst="right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2"/>
          <p:cNvSpPr/>
          <p:nvPr/>
        </p:nvSpPr>
        <p:spPr>
          <a:xfrm>
            <a:off x="2834640" y="4846320"/>
            <a:ext cx="1828800" cy="1005840"/>
          </a:xfrm>
          <a:prstGeom prst="roundRect">
            <a:avLst>
              <a:gd fmla="val 10909"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2"/>
          <p:cNvSpPr txBox="1"/>
          <p:nvPr/>
        </p:nvSpPr>
        <p:spPr>
          <a:xfrm>
            <a:off x="2971800" y="4846320"/>
            <a:ext cx="1554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1500"/>
              <a:buFont typeface="Calibri"/>
              <a:buNone/>
            </a:pPr>
            <a:r>
              <a:rPr b="1" i="0" lang="en-US" sz="1500" u="none" cap="none" strike="noStrike">
                <a:solidFill>
                  <a:schemeClr val="accent3"/>
                </a:solidFill>
                <a:latin typeface="Calibri"/>
                <a:ea typeface="Calibri"/>
                <a:cs typeface="Calibri"/>
                <a:sym typeface="Calibri"/>
              </a:rPr>
              <a:t>2  </a:t>
            </a:r>
            <a:r>
              <a:rPr b="1" i="0" lang="en-US" sz="1500" u="none" cap="none" strike="noStrike">
                <a:solidFill>
                  <a:schemeClr val="lt1"/>
                </a:solidFill>
                <a:latin typeface="Calibri"/>
                <a:ea typeface="Calibri"/>
                <a:cs typeface="Calibri"/>
                <a:sym typeface="Calibri"/>
              </a:rPr>
              <a:t>Quick vet appointment</a:t>
            </a:r>
            <a:endParaRPr b="0" i="0" sz="1500" u="none" cap="none" strike="noStrike">
              <a:solidFill>
                <a:schemeClr val="dk1"/>
              </a:solidFill>
              <a:latin typeface="Calibri"/>
              <a:ea typeface="Calibri"/>
              <a:cs typeface="Calibri"/>
              <a:sym typeface="Calibri"/>
            </a:endParaRPr>
          </a:p>
        </p:txBody>
      </p:sp>
      <p:sp>
        <p:nvSpPr>
          <p:cNvPr id="228" name="Google Shape;228;p12"/>
          <p:cNvSpPr/>
          <p:nvPr/>
        </p:nvSpPr>
        <p:spPr>
          <a:xfrm>
            <a:off x="4727448" y="5212080"/>
            <a:ext cx="329184" cy="274320"/>
          </a:xfrm>
          <a:prstGeom prst="right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2"/>
          <p:cNvSpPr/>
          <p:nvPr/>
        </p:nvSpPr>
        <p:spPr>
          <a:xfrm>
            <a:off x="5120640" y="4846320"/>
            <a:ext cx="1828800" cy="1005840"/>
          </a:xfrm>
          <a:prstGeom prst="roundRect">
            <a:avLst>
              <a:gd fmla="val 10909"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2"/>
          <p:cNvSpPr txBox="1"/>
          <p:nvPr/>
        </p:nvSpPr>
        <p:spPr>
          <a:xfrm>
            <a:off x="5257800" y="4846320"/>
            <a:ext cx="1554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1500"/>
              <a:buFont typeface="Calibri"/>
              <a:buNone/>
            </a:pPr>
            <a:r>
              <a:rPr b="1" i="0" lang="en-US" sz="1500" u="none" cap="none" strike="noStrike">
                <a:solidFill>
                  <a:schemeClr val="accent3"/>
                </a:solidFill>
                <a:latin typeface="Calibri"/>
                <a:ea typeface="Calibri"/>
                <a:cs typeface="Calibri"/>
                <a:sym typeface="Calibri"/>
              </a:rPr>
              <a:t>3  </a:t>
            </a:r>
            <a:r>
              <a:rPr b="1" i="0" lang="en-US" sz="1500" u="none" cap="none" strike="noStrike">
                <a:solidFill>
                  <a:schemeClr val="lt1"/>
                </a:solidFill>
                <a:latin typeface="Calibri"/>
                <a:ea typeface="Calibri"/>
                <a:cs typeface="Calibri"/>
                <a:sym typeface="Calibri"/>
              </a:rPr>
              <a:t>Specialist match</a:t>
            </a:r>
            <a:endParaRPr b="0" i="0" sz="1500" u="none" cap="none" strike="noStrike">
              <a:solidFill>
                <a:schemeClr val="dk1"/>
              </a:solidFill>
              <a:latin typeface="Calibri"/>
              <a:ea typeface="Calibri"/>
              <a:cs typeface="Calibri"/>
              <a:sym typeface="Calibri"/>
            </a:endParaRPr>
          </a:p>
        </p:txBody>
      </p:sp>
      <p:sp>
        <p:nvSpPr>
          <p:cNvPr id="231" name="Google Shape;231;p12"/>
          <p:cNvSpPr/>
          <p:nvPr/>
        </p:nvSpPr>
        <p:spPr>
          <a:xfrm>
            <a:off x="7013448" y="5212080"/>
            <a:ext cx="329184" cy="274320"/>
          </a:xfrm>
          <a:prstGeom prst="right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2"/>
          <p:cNvSpPr/>
          <p:nvPr/>
        </p:nvSpPr>
        <p:spPr>
          <a:xfrm>
            <a:off x="7406640" y="4846320"/>
            <a:ext cx="1828800" cy="1005840"/>
          </a:xfrm>
          <a:prstGeom prst="roundRect">
            <a:avLst>
              <a:gd fmla="val 10909"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2"/>
          <p:cNvSpPr txBox="1"/>
          <p:nvPr/>
        </p:nvSpPr>
        <p:spPr>
          <a:xfrm>
            <a:off x="7543800" y="4846320"/>
            <a:ext cx="1554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1500"/>
              <a:buFont typeface="Calibri"/>
              <a:buNone/>
            </a:pPr>
            <a:r>
              <a:rPr b="1" i="0" lang="en-US" sz="1500" u="none" cap="none" strike="noStrike">
                <a:solidFill>
                  <a:schemeClr val="accent3"/>
                </a:solidFill>
                <a:latin typeface="Calibri"/>
                <a:ea typeface="Calibri"/>
                <a:cs typeface="Calibri"/>
                <a:sym typeface="Calibri"/>
              </a:rPr>
              <a:t>4  </a:t>
            </a:r>
            <a:r>
              <a:rPr b="1" i="0" lang="en-US" sz="1500" u="none" cap="none" strike="noStrike">
                <a:solidFill>
                  <a:schemeClr val="lt1"/>
                </a:solidFill>
                <a:latin typeface="Calibri"/>
                <a:ea typeface="Calibri"/>
                <a:cs typeface="Calibri"/>
                <a:sym typeface="Calibri"/>
              </a:rPr>
              <a:t>Continuous rehab</a:t>
            </a:r>
            <a:endParaRPr b="0" i="0" sz="1500" u="none" cap="none" strike="noStrike">
              <a:solidFill>
                <a:schemeClr val="dk1"/>
              </a:solidFill>
              <a:latin typeface="Calibri"/>
              <a:ea typeface="Calibri"/>
              <a:cs typeface="Calibri"/>
              <a:sym typeface="Calibri"/>
            </a:endParaRPr>
          </a:p>
        </p:txBody>
      </p:sp>
      <p:sp>
        <p:nvSpPr>
          <p:cNvPr id="234" name="Google Shape;234;p12"/>
          <p:cNvSpPr/>
          <p:nvPr/>
        </p:nvSpPr>
        <p:spPr>
          <a:xfrm>
            <a:off x="9299448" y="5212080"/>
            <a:ext cx="329184" cy="274320"/>
          </a:xfrm>
          <a:prstGeom prst="right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2"/>
          <p:cNvSpPr/>
          <p:nvPr/>
        </p:nvSpPr>
        <p:spPr>
          <a:xfrm>
            <a:off x="9692640" y="4846320"/>
            <a:ext cx="1828800" cy="1005840"/>
          </a:xfrm>
          <a:prstGeom prst="roundRect">
            <a:avLst>
              <a:gd fmla="val 10909"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2"/>
          <p:cNvSpPr txBox="1"/>
          <p:nvPr/>
        </p:nvSpPr>
        <p:spPr>
          <a:xfrm>
            <a:off x="9829800" y="4846320"/>
            <a:ext cx="1554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1500"/>
              <a:buFont typeface="Calibri"/>
              <a:buNone/>
            </a:pPr>
            <a:r>
              <a:rPr b="1" i="0" lang="en-US" sz="1500" u="none" cap="none" strike="noStrike">
                <a:solidFill>
                  <a:schemeClr val="accent3"/>
                </a:solidFill>
                <a:latin typeface="Calibri"/>
                <a:ea typeface="Calibri"/>
                <a:cs typeface="Calibri"/>
                <a:sym typeface="Calibri"/>
              </a:rPr>
              <a:t>5  </a:t>
            </a:r>
            <a:r>
              <a:rPr b="1" i="0" lang="en-US" sz="1500" u="none" cap="none" strike="noStrike">
                <a:solidFill>
                  <a:schemeClr val="lt1"/>
                </a:solidFill>
                <a:latin typeface="Calibri"/>
                <a:ea typeface="Calibri"/>
                <a:cs typeface="Calibri"/>
                <a:sym typeface="Calibri"/>
              </a:rPr>
              <a:t>Grooming and wellness</a:t>
            </a:r>
            <a:endParaRPr b="0" i="0" sz="1500" u="none" cap="none" strike="noStrike">
              <a:solidFill>
                <a:schemeClr val="dk1"/>
              </a:solidFill>
              <a:latin typeface="Calibri"/>
              <a:ea typeface="Calibri"/>
              <a:cs typeface="Calibri"/>
              <a:sym typeface="Calibri"/>
            </a:endParaRPr>
          </a:p>
        </p:txBody>
      </p:sp>
      <p:sp>
        <p:nvSpPr>
          <p:cNvPr id="237" name="Google Shape;237;p12"/>
          <p:cNvSpPr txBox="1"/>
          <p:nvPr>
            <p:ph idx="4294967295" type="sldNum"/>
          </p:nvPr>
        </p:nvSpPr>
        <p:spPr>
          <a:xfrm>
            <a:off x="1097280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3"/>
          <p:cNvSpPr txBox="1"/>
          <p:nvPr>
            <p:ph type="title"/>
          </p:nvPr>
        </p:nvSpPr>
        <p:spPr>
          <a:xfrm>
            <a:off x="548640" y="384048"/>
            <a:ext cx="950976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Owners spend about ₹8,000 to ₹8,500 a month today. With ResQ it is ₹4,999, wheelchair included</a:t>
            </a:r>
            <a:endParaRPr sz="3000"/>
          </a:p>
        </p:txBody>
      </p:sp>
      <p:pic>
        <p:nvPicPr>
          <p:cNvPr id="244" name="Google Shape;244;p13"/>
          <p:cNvPicPr preferRelativeResize="0"/>
          <p:nvPr/>
        </p:nvPicPr>
        <p:blipFill rotWithShape="1">
          <a:blip r:embed="rId3">
            <a:alphaModFix/>
          </a:blip>
          <a:srcRect b="0" l="0" r="0" t="0"/>
          <a:stretch/>
        </p:blipFill>
        <p:spPr>
          <a:xfrm>
            <a:off x="548640" y="1737360"/>
            <a:ext cx="5669280" cy="4389120"/>
          </a:xfrm>
          <a:prstGeom prst="rect">
            <a:avLst/>
          </a:prstGeom>
          <a:noFill/>
          <a:ln>
            <a:noFill/>
          </a:ln>
        </p:spPr>
      </p:pic>
      <p:sp>
        <p:nvSpPr>
          <p:cNvPr id="245" name="Google Shape;245;p13"/>
          <p:cNvSpPr/>
          <p:nvPr/>
        </p:nvSpPr>
        <p:spPr>
          <a:xfrm>
            <a:off x="6492240" y="1783080"/>
            <a:ext cx="5148072" cy="1325880"/>
          </a:xfrm>
          <a:prstGeom prst="roundRect">
            <a:avLst>
              <a:gd fmla="val 8276"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3"/>
          <p:cNvSpPr txBox="1"/>
          <p:nvPr/>
        </p:nvSpPr>
        <p:spPr>
          <a:xfrm>
            <a:off x="6766560" y="1874520"/>
            <a:ext cx="4572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4000"/>
              <a:buFont typeface="Arial"/>
              <a:buNone/>
            </a:pPr>
            <a:r>
              <a:rPr b="1" i="0" lang="en-US" sz="4000" u="none" cap="none" strike="noStrike">
                <a:solidFill>
                  <a:schemeClr val="accent3"/>
                </a:solidFill>
                <a:latin typeface="Arial"/>
                <a:ea typeface="Arial"/>
                <a:cs typeface="Arial"/>
                <a:sym typeface="Arial"/>
              </a:rPr>
              <a:t>about 40% less</a:t>
            </a:r>
            <a:endParaRPr b="0" i="0" sz="4000" u="none" cap="none" strike="noStrike">
              <a:solidFill>
                <a:schemeClr val="dk1"/>
              </a:solidFill>
              <a:latin typeface="Calibri"/>
              <a:ea typeface="Calibri"/>
              <a:cs typeface="Calibri"/>
              <a:sym typeface="Calibri"/>
            </a:endParaRPr>
          </a:p>
        </p:txBody>
      </p:sp>
      <p:sp>
        <p:nvSpPr>
          <p:cNvPr id="247" name="Google Shape;247;p13"/>
          <p:cNvSpPr txBox="1"/>
          <p:nvPr/>
        </p:nvSpPr>
        <p:spPr>
          <a:xfrm>
            <a:off x="6766560" y="2606040"/>
            <a:ext cx="4572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0" i="0" lang="en-US" sz="1600" u="none" cap="none" strike="noStrike">
                <a:solidFill>
                  <a:schemeClr val="lt1"/>
                </a:solidFill>
                <a:latin typeface="Calibri"/>
                <a:ea typeface="Calibri"/>
                <a:cs typeface="Calibri"/>
                <a:sym typeface="Calibri"/>
              </a:rPr>
              <a:t>for the owner, and the wheelchair is included</a:t>
            </a:r>
            <a:endParaRPr b="0" i="0" sz="1600" u="none" cap="none" strike="noStrike">
              <a:solidFill>
                <a:schemeClr val="dk1"/>
              </a:solidFill>
              <a:latin typeface="Calibri"/>
              <a:ea typeface="Calibri"/>
              <a:cs typeface="Calibri"/>
              <a:sym typeface="Calibri"/>
            </a:endParaRPr>
          </a:p>
        </p:txBody>
      </p:sp>
      <p:sp>
        <p:nvSpPr>
          <p:cNvPr id="248" name="Google Shape;248;p13"/>
          <p:cNvSpPr/>
          <p:nvPr/>
        </p:nvSpPr>
        <p:spPr>
          <a:xfrm>
            <a:off x="6492240" y="3291840"/>
            <a:ext cx="5148072" cy="2926080"/>
          </a:xfrm>
          <a:prstGeom prst="roundRect">
            <a:avLst>
              <a:gd fmla="val 375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3"/>
          <p:cNvSpPr txBox="1"/>
          <p:nvPr/>
        </p:nvSpPr>
        <p:spPr>
          <a:xfrm>
            <a:off x="6766560" y="3429000"/>
            <a:ext cx="45720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900"/>
              <a:buFont typeface="Calibri"/>
              <a:buNone/>
            </a:pPr>
            <a:r>
              <a:rPr b="1" i="0" lang="en-US" sz="1900" u="none" cap="none" strike="noStrike">
                <a:solidFill>
                  <a:schemeClr val="dk1"/>
                </a:solidFill>
                <a:latin typeface="Calibri"/>
                <a:ea typeface="Calibri"/>
                <a:cs typeface="Calibri"/>
                <a:sym typeface="Calibri"/>
              </a:rPr>
              <a:t>What ₹4,999 a month includes</a:t>
            </a:r>
            <a:endParaRPr b="0" i="0" sz="1900" u="none" cap="none" strike="noStrike">
              <a:solidFill>
                <a:schemeClr val="dk1"/>
              </a:solidFill>
              <a:latin typeface="Calibri"/>
              <a:ea typeface="Calibri"/>
              <a:cs typeface="Calibri"/>
              <a:sym typeface="Calibri"/>
            </a:endParaRPr>
          </a:p>
        </p:txBody>
      </p:sp>
      <p:sp>
        <p:nvSpPr>
          <p:cNvPr id="250" name="Google Shape;250;p13"/>
          <p:cNvSpPr/>
          <p:nvPr/>
        </p:nvSpPr>
        <p:spPr>
          <a:xfrm>
            <a:off x="6766560" y="3895344"/>
            <a:ext cx="274320" cy="2743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ncluded" id="251" name="Google Shape;251;p13"/>
          <p:cNvPicPr preferRelativeResize="0"/>
          <p:nvPr/>
        </p:nvPicPr>
        <p:blipFill rotWithShape="1">
          <a:blip r:embed="rId4">
            <a:alphaModFix/>
          </a:blip>
          <a:srcRect b="0" l="0" r="0" t="0"/>
          <a:stretch/>
        </p:blipFill>
        <p:spPr>
          <a:xfrm>
            <a:off x="6835140" y="3963924"/>
            <a:ext cx="137160" cy="137160"/>
          </a:xfrm>
          <a:prstGeom prst="rect">
            <a:avLst/>
          </a:prstGeom>
          <a:noFill/>
          <a:ln>
            <a:noFill/>
          </a:ln>
        </p:spPr>
      </p:pic>
      <p:sp>
        <p:nvSpPr>
          <p:cNvPr id="252" name="Google Shape;252;p13"/>
          <p:cNvSpPr txBox="1"/>
          <p:nvPr/>
        </p:nvSpPr>
        <p:spPr>
          <a:xfrm>
            <a:off x="7178040" y="3840480"/>
            <a:ext cx="4297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A wheelchair, worth ₹60,000 to ₹1,80,000 imported</a:t>
            </a:r>
            <a:endParaRPr b="0" i="0" sz="1500" u="none" cap="none" strike="noStrike">
              <a:solidFill>
                <a:schemeClr val="dk1"/>
              </a:solidFill>
              <a:latin typeface="Calibri"/>
              <a:ea typeface="Calibri"/>
              <a:cs typeface="Calibri"/>
              <a:sym typeface="Calibri"/>
            </a:endParaRPr>
          </a:p>
        </p:txBody>
      </p:sp>
      <p:sp>
        <p:nvSpPr>
          <p:cNvPr id="253" name="Google Shape;253;p13"/>
          <p:cNvSpPr/>
          <p:nvPr/>
        </p:nvSpPr>
        <p:spPr>
          <a:xfrm>
            <a:off x="6766560" y="4279392"/>
            <a:ext cx="274320" cy="2743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ncluded" id="254" name="Google Shape;254;p13"/>
          <p:cNvPicPr preferRelativeResize="0"/>
          <p:nvPr/>
        </p:nvPicPr>
        <p:blipFill rotWithShape="1">
          <a:blip r:embed="rId4">
            <a:alphaModFix/>
          </a:blip>
          <a:srcRect b="0" l="0" r="0" t="0"/>
          <a:stretch/>
        </p:blipFill>
        <p:spPr>
          <a:xfrm>
            <a:off x="6835140" y="4347972"/>
            <a:ext cx="137160" cy="137160"/>
          </a:xfrm>
          <a:prstGeom prst="rect">
            <a:avLst/>
          </a:prstGeom>
          <a:noFill/>
          <a:ln>
            <a:noFill/>
          </a:ln>
        </p:spPr>
      </p:pic>
      <p:sp>
        <p:nvSpPr>
          <p:cNvPr id="255" name="Google Shape;255;p13"/>
          <p:cNvSpPr txBox="1"/>
          <p:nvPr/>
        </p:nvSpPr>
        <p:spPr>
          <a:xfrm>
            <a:off x="7178040" y="4224528"/>
            <a:ext cx="4297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Quick vet appointments and specialist matching</a:t>
            </a:r>
            <a:endParaRPr b="0" i="0" sz="1500" u="none" cap="none" strike="noStrike">
              <a:solidFill>
                <a:schemeClr val="dk1"/>
              </a:solidFill>
              <a:latin typeface="Calibri"/>
              <a:ea typeface="Calibri"/>
              <a:cs typeface="Calibri"/>
              <a:sym typeface="Calibri"/>
            </a:endParaRPr>
          </a:p>
        </p:txBody>
      </p:sp>
      <p:sp>
        <p:nvSpPr>
          <p:cNvPr id="256" name="Google Shape;256;p13"/>
          <p:cNvSpPr/>
          <p:nvPr/>
        </p:nvSpPr>
        <p:spPr>
          <a:xfrm>
            <a:off x="6766560" y="4663440"/>
            <a:ext cx="274320" cy="2743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ncluded" id="257" name="Google Shape;257;p13"/>
          <p:cNvPicPr preferRelativeResize="0"/>
          <p:nvPr/>
        </p:nvPicPr>
        <p:blipFill rotWithShape="1">
          <a:blip r:embed="rId4">
            <a:alphaModFix/>
          </a:blip>
          <a:srcRect b="0" l="0" r="0" t="0"/>
          <a:stretch/>
        </p:blipFill>
        <p:spPr>
          <a:xfrm>
            <a:off x="6835140" y="4732020"/>
            <a:ext cx="137160" cy="137160"/>
          </a:xfrm>
          <a:prstGeom prst="rect">
            <a:avLst/>
          </a:prstGeom>
          <a:noFill/>
          <a:ln>
            <a:noFill/>
          </a:ln>
        </p:spPr>
      </p:pic>
      <p:sp>
        <p:nvSpPr>
          <p:cNvPr id="258" name="Google Shape;258;p13"/>
          <p:cNvSpPr txBox="1"/>
          <p:nvPr/>
        </p:nvSpPr>
        <p:spPr>
          <a:xfrm>
            <a:off x="7178040" y="4608576"/>
            <a:ext cx="4297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Continuous rehabilitation</a:t>
            </a:r>
            <a:endParaRPr b="0" i="0" sz="1500" u="none" cap="none" strike="noStrike">
              <a:solidFill>
                <a:schemeClr val="dk1"/>
              </a:solidFill>
              <a:latin typeface="Calibri"/>
              <a:ea typeface="Calibri"/>
              <a:cs typeface="Calibri"/>
              <a:sym typeface="Calibri"/>
            </a:endParaRPr>
          </a:p>
        </p:txBody>
      </p:sp>
      <p:sp>
        <p:nvSpPr>
          <p:cNvPr id="259" name="Google Shape;259;p13"/>
          <p:cNvSpPr/>
          <p:nvPr/>
        </p:nvSpPr>
        <p:spPr>
          <a:xfrm>
            <a:off x="6766560" y="5047488"/>
            <a:ext cx="274320" cy="2743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ncluded" id="260" name="Google Shape;260;p13"/>
          <p:cNvPicPr preferRelativeResize="0"/>
          <p:nvPr/>
        </p:nvPicPr>
        <p:blipFill rotWithShape="1">
          <a:blip r:embed="rId4">
            <a:alphaModFix/>
          </a:blip>
          <a:srcRect b="0" l="0" r="0" t="0"/>
          <a:stretch/>
        </p:blipFill>
        <p:spPr>
          <a:xfrm>
            <a:off x="6835140" y="5116068"/>
            <a:ext cx="137160" cy="137160"/>
          </a:xfrm>
          <a:prstGeom prst="rect">
            <a:avLst/>
          </a:prstGeom>
          <a:noFill/>
          <a:ln>
            <a:noFill/>
          </a:ln>
        </p:spPr>
      </p:pic>
      <p:sp>
        <p:nvSpPr>
          <p:cNvPr id="261" name="Google Shape;261;p13"/>
          <p:cNvSpPr txBox="1"/>
          <p:nvPr/>
        </p:nvSpPr>
        <p:spPr>
          <a:xfrm>
            <a:off x="7178040" y="4992624"/>
            <a:ext cx="4297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Medicinal care and supplements</a:t>
            </a:r>
            <a:endParaRPr b="0" i="0" sz="1500" u="none" cap="none" strike="noStrike">
              <a:solidFill>
                <a:schemeClr val="dk1"/>
              </a:solidFill>
              <a:latin typeface="Calibri"/>
              <a:ea typeface="Calibri"/>
              <a:cs typeface="Calibri"/>
              <a:sym typeface="Calibri"/>
            </a:endParaRPr>
          </a:p>
        </p:txBody>
      </p:sp>
      <p:sp>
        <p:nvSpPr>
          <p:cNvPr id="262" name="Google Shape;262;p13"/>
          <p:cNvSpPr/>
          <p:nvPr/>
        </p:nvSpPr>
        <p:spPr>
          <a:xfrm>
            <a:off x="6766560" y="5431536"/>
            <a:ext cx="274320" cy="2743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ncluded" id="263" name="Google Shape;263;p13"/>
          <p:cNvPicPr preferRelativeResize="0"/>
          <p:nvPr/>
        </p:nvPicPr>
        <p:blipFill rotWithShape="1">
          <a:blip r:embed="rId4">
            <a:alphaModFix/>
          </a:blip>
          <a:srcRect b="0" l="0" r="0" t="0"/>
          <a:stretch/>
        </p:blipFill>
        <p:spPr>
          <a:xfrm>
            <a:off x="6835140" y="5500116"/>
            <a:ext cx="137160" cy="137160"/>
          </a:xfrm>
          <a:prstGeom prst="rect">
            <a:avLst/>
          </a:prstGeom>
          <a:noFill/>
          <a:ln>
            <a:noFill/>
          </a:ln>
        </p:spPr>
      </p:pic>
      <p:sp>
        <p:nvSpPr>
          <p:cNvPr id="264" name="Google Shape;264;p13"/>
          <p:cNvSpPr txBox="1"/>
          <p:nvPr/>
        </p:nvSpPr>
        <p:spPr>
          <a:xfrm>
            <a:off x="7178040" y="5376672"/>
            <a:ext cx="4297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Grooming</a:t>
            </a:r>
            <a:endParaRPr b="0" i="0" sz="1500" u="none" cap="none" strike="noStrike">
              <a:solidFill>
                <a:schemeClr val="dk1"/>
              </a:solidFill>
              <a:latin typeface="Calibri"/>
              <a:ea typeface="Calibri"/>
              <a:cs typeface="Calibri"/>
              <a:sym typeface="Calibri"/>
            </a:endParaRPr>
          </a:p>
        </p:txBody>
      </p:sp>
      <p:sp>
        <p:nvSpPr>
          <p:cNvPr id="265" name="Google Shape;265;p13"/>
          <p:cNvSpPr/>
          <p:nvPr/>
        </p:nvSpPr>
        <p:spPr>
          <a:xfrm>
            <a:off x="6766560" y="5815584"/>
            <a:ext cx="274320" cy="2743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ncluded" id="266" name="Google Shape;266;p13"/>
          <p:cNvPicPr preferRelativeResize="0"/>
          <p:nvPr/>
        </p:nvPicPr>
        <p:blipFill rotWithShape="1">
          <a:blip r:embed="rId4">
            <a:alphaModFix/>
          </a:blip>
          <a:srcRect b="0" l="0" r="0" t="0"/>
          <a:stretch/>
        </p:blipFill>
        <p:spPr>
          <a:xfrm>
            <a:off x="6835140" y="5884164"/>
            <a:ext cx="137160" cy="137160"/>
          </a:xfrm>
          <a:prstGeom prst="rect">
            <a:avLst/>
          </a:prstGeom>
          <a:noFill/>
          <a:ln>
            <a:noFill/>
          </a:ln>
        </p:spPr>
      </p:pic>
      <p:sp>
        <p:nvSpPr>
          <p:cNvPr id="267" name="Google Shape;267;p13"/>
          <p:cNvSpPr txBox="1"/>
          <p:nvPr/>
        </p:nvSpPr>
        <p:spPr>
          <a:xfrm>
            <a:off x="7178040" y="5760720"/>
            <a:ext cx="4297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Red light therapy</a:t>
            </a:r>
            <a:endParaRPr b="0" i="0" sz="1500" u="none" cap="none" strike="noStrike">
              <a:solidFill>
                <a:schemeClr val="dk1"/>
              </a:solidFill>
              <a:latin typeface="Calibri"/>
              <a:ea typeface="Calibri"/>
              <a:cs typeface="Calibri"/>
              <a:sym typeface="Calibri"/>
            </a:endParaRPr>
          </a:p>
        </p:txBody>
      </p:sp>
      <p:sp>
        <p:nvSpPr>
          <p:cNvPr id="268" name="Google Shape;268;p13"/>
          <p:cNvSpPr txBox="1"/>
          <p:nvPr>
            <p:ph idx="4294967295" type="sldNum"/>
          </p:nvPr>
        </p:nvSpPr>
        <p:spPr>
          <a:xfrm>
            <a:off x="1097280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4"/>
          <p:cNvSpPr txBox="1"/>
          <p:nvPr>
            <p:ph type="title"/>
          </p:nvPr>
        </p:nvSpPr>
        <p:spPr>
          <a:xfrm>
            <a:off x="548640" y="384048"/>
            <a:ext cx="950976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Business model: a subscription with a wheelchair included, and low costs through partnerships</a:t>
            </a:r>
            <a:endParaRPr sz="3000"/>
          </a:p>
        </p:txBody>
      </p:sp>
      <p:sp>
        <p:nvSpPr>
          <p:cNvPr id="275" name="Google Shape;275;p14"/>
          <p:cNvSpPr/>
          <p:nvPr/>
        </p:nvSpPr>
        <p:spPr>
          <a:xfrm>
            <a:off x="548640" y="1737360"/>
            <a:ext cx="1828800" cy="1417320"/>
          </a:xfrm>
          <a:prstGeom prst="roundRect">
            <a:avLst>
              <a:gd fmla="val 774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4"/>
          <p:cNvSpPr/>
          <p:nvPr/>
        </p:nvSpPr>
        <p:spPr>
          <a:xfrm>
            <a:off x="1188720" y="1920240"/>
            <a:ext cx="548640" cy="548640"/>
          </a:xfrm>
          <a:prstGeom prst="ellipse">
            <a:avLst/>
          </a:prstGeom>
          <a:solidFill>
            <a:srgbClr val="2F2A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Plus icon" id="277" name="Google Shape;277;p14"/>
          <p:cNvPicPr preferRelativeResize="0"/>
          <p:nvPr/>
        </p:nvPicPr>
        <p:blipFill rotWithShape="1">
          <a:blip r:embed="rId3">
            <a:alphaModFix/>
          </a:blip>
          <a:srcRect b="0" l="0" r="0" t="0"/>
          <a:stretch/>
        </p:blipFill>
        <p:spPr>
          <a:xfrm>
            <a:off x="1325880" y="2057400"/>
            <a:ext cx="274320" cy="274320"/>
          </a:xfrm>
          <a:prstGeom prst="rect">
            <a:avLst/>
          </a:prstGeom>
          <a:noFill/>
          <a:ln>
            <a:noFill/>
          </a:ln>
        </p:spPr>
      </p:pic>
      <p:sp>
        <p:nvSpPr>
          <p:cNvPr id="278" name="Google Shape;278;p14"/>
          <p:cNvSpPr txBox="1"/>
          <p:nvPr/>
        </p:nvSpPr>
        <p:spPr>
          <a:xfrm>
            <a:off x="640080" y="2606040"/>
            <a:ext cx="16459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Owner subscribes</a:t>
            </a:r>
            <a:endParaRPr b="0" i="0" sz="1500" u="none" cap="none" strike="noStrike">
              <a:solidFill>
                <a:schemeClr val="dk1"/>
              </a:solidFill>
              <a:latin typeface="Calibri"/>
              <a:ea typeface="Calibri"/>
              <a:cs typeface="Calibri"/>
              <a:sym typeface="Calibri"/>
            </a:endParaRPr>
          </a:p>
        </p:txBody>
      </p:sp>
      <p:sp>
        <p:nvSpPr>
          <p:cNvPr id="279" name="Google Shape;279;p14"/>
          <p:cNvSpPr/>
          <p:nvPr/>
        </p:nvSpPr>
        <p:spPr>
          <a:xfrm>
            <a:off x="2441448" y="2304288"/>
            <a:ext cx="329184" cy="274320"/>
          </a:xfrm>
          <a:prstGeom prst="right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4"/>
          <p:cNvSpPr/>
          <p:nvPr/>
        </p:nvSpPr>
        <p:spPr>
          <a:xfrm>
            <a:off x="2834640" y="1737360"/>
            <a:ext cx="1828800" cy="1417320"/>
          </a:xfrm>
          <a:prstGeom prst="roundRect">
            <a:avLst>
              <a:gd fmla="val 774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4"/>
          <p:cNvSpPr/>
          <p:nvPr/>
        </p:nvSpPr>
        <p:spPr>
          <a:xfrm>
            <a:off x="3474720" y="1920240"/>
            <a:ext cx="548640" cy="548640"/>
          </a:xfrm>
          <a:prstGeom prst="ellipse">
            <a:avLst/>
          </a:prstGeom>
          <a:solidFill>
            <a:srgbClr val="2F2A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heelchair icon" id="282" name="Google Shape;282;p14"/>
          <p:cNvPicPr preferRelativeResize="0"/>
          <p:nvPr/>
        </p:nvPicPr>
        <p:blipFill rotWithShape="1">
          <a:blip r:embed="rId4">
            <a:alphaModFix/>
          </a:blip>
          <a:srcRect b="0" l="0" r="0" t="0"/>
          <a:stretch/>
        </p:blipFill>
        <p:spPr>
          <a:xfrm>
            <a:off x="3611880" y="2057400"/>
            <a:ext cx="274320" cy="274320"/>
          </a:xfrm>
          <a:prstGeom prst="rect">
            <a:avLst/>
          </a:prstGeom>
          <a:noFill/>
          <a:ln>
            <a:noFill/>
          </a:ln>
        </p:spPr>
      </p:pic>
      <p:sp>
        <p:nvSpPr>
          <p:cNvPr id="283" name="Google Shape;283;p14"/>
          <p:cNvSpPr txBox="1"/>
          <p:nvPr/>
        </p:nvSpPr>
        <p:spPr>
          <a:xfrm>
            <a:off x="2926080" y="2606040"/>
            <a:ext cx="16459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Wheelchair included</a:t>
            </a:r>
            <a:endParaRPr b="0" i="0" sz="1500" u="none" cap="none" strike="noStrike">
              <a:solidFill>
                <a:schemeClr val="dk1"/>
              </a:solidFill>
              <a:latin typeface="Calibri"/>
              <a:ea typeface="Calibri"/>
              <a:cs typeface="Calibri"/>
              <a:sym typeface="Calibri"/>
            </a:endParaRPr>
          </a:p>
        </p:txBody>
      </p:sp>
      <p:sp>
        <p:nvSpPr>
          <p:cNvPr id="284" name="Google Shape;284;p14"/>
          <p:cNvSpPr/>
          <p:nvPr/>
        </p:nvSpPr>
        <p:spPr>
          <a:xfrm>
            <a:off x="4727448" y="2304288"/>
            <a:ext cx="329184" cy="274320"/>
          </a:xfrm>
          <a:prstGeom prst="right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4"/>
          <p:cNvSpPr/>
          <p:nvPr/>
        </p:nvSpPr>
        <p:spPr>
          <a:xfrm>
            <a:off x="5120640" y="1737360"/>
            <a:ext cx="1828800" cy="1417320"/>
          </a:xfrm>
          <a:prstGeom prst="roundRect">
            <a:avLst>
              <a:gd fmla="val 774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4"/>
          <p:cNvSpPr/>
          <p:nvPr/>
        </p:nvSpPr>
        <p:spPr>
          <a:xfrm>
            <a:off x="5760720" y="1920240"/>
            <a:ext cx="548640" cy="548640"/>
          </a:xfrm>
          <a:prstGeom prst="ellipse">
            <a:avLst/>
          </a:prstGeom>
          <a:solidFill>
            <a:srgbClr val="2F2A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tethoscope icon" id="287" name="Google Shape;287;p14"/>
          <p:cNvPicPr preferRelativeResize="0"/>
          <p:nvPr/>
        </p:nvPicPr>
        <p:blipFill rotWithShape="1">
          <a:blip r:embed="rId5">
            <a:alphaModFix/>
          </a:blip>
          <a:srcRect b="0" l="0" r="0" t="0"/>
          <a:stretch/>
        </p:blipFill>
        <p:spPr>
          <a:xfrm>
            <a:off x="5897880" y="2057400"/>
            <a:ext cx="274320" cy="274320"/>
          </a:xfrm>
          <a:prstGeom prst="rect">
            <a:avLst/>
          </a:prstGeom>
          <a:noFill/>
          <a:ln>
            <a:noFill/>
          </a:ln>
        </p:spPr>
      </p:pic>
      <p:sp>
        <p:nvSpPr>
          <p:cNvPr id="288" name="Google Shape;288;p14"/>
          <p:cNvSpPr txBox="1"/>
          <p:nvPr/>
        </p:nvSpPr>
        <p:spPr>
          <a:xfrm>
            <a:off x="5212080" y="2606040"/>
            <a:ext cx="16459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Care and rehab delivered</a:t>
            </a:r>
            <a:endParaRPr b="0" i="0" sz="1500" u="none" cap="none" strike="noStrike">
              <a:solidFill>
                <a:schemeClr val="dk1"/>
              </a:solidFill>
              <a:latin typeface="Calibri"/>
              <a:ea typeface="Calibri"/>
              <a:cs typeface="Calibri"/>
              <a:sym typeface="Calibri"/>
            </a:endParaRPr>
          </a:p>
        </p:txBody>
      </p:sp>
      <p:sp>
        <p:nvSpPr>
          <p:cNvPr id="289" name="Google Shape;289;p14"/>
          <p:cNvSpPr/>
          <p:nvPr/>
        </p:nvSpPr>
        <p:spPr>
          <a:xfrm>
            <a:off x="7013448" y="2304288"/>
            <a:ext cx="329184" cy="274320"/>
          </a:xfrm>
          <a:prstGeom prst="right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4"/>
          <p:cNvSpPr/>
          <p:nvPr/>
        </p:nvSpPr>
        <p:spPr>
          <a:xfrm>
            <a:off x="7406640" y="1737360"/>
            <a:ext cx="1828800" cy="1417320"/>
          </a:xfrm>
          <a:prstGeom prst="roundRect">
            <a:avLst>
              <a:gd fmla="val 774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4"/>
          <p:cNvSpPr/>
          <p:nvPr/>
        </p:nvSpPr>
        <p:spPr>
          <a:xfrm>
            <a:off x="8046720" y="1920240"/>
            <a:ext cx="548640" cy="548640"/>
          </a:xfrm>
          <a:prstGeom prst="ellipse">
            <a:avLst/>
          </a:prstGeom>
          <a:solidFill>
            <a:srgbClr val="2F2A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andshake icon" id="292" name="Google Shape;292;p14"/>
          <p:cNvPicPr preferRelativeResize="0"/>
          <p:nvPr/>
        </p:nvPicPr>
        <p:blipFill rotWithShape="1">
          <a:blip r:embed="rId6">
            <a:alphaModFix/>
          </a:blip>
          <a:srcRect b="0" l="0" r="0" t="0"/>
          <a:stretch/>
        </p:blipFill>
        <p:spPr>
          <a:xfrm>
            <a:off x="8183880" y="2057400"/>
            <a:ext cx="274320" cy="274320"/>
          </a:xfrm>
          <a:prstGeom prst="rect">
            <a:avLst/>
          </a:prstGeom>
          <a:noFill/>
          <a:ln>
            <a:noFill/>
          </a:ln>
        </p:spPr>
      </p:pic>
      <p:sp>
        <p:nvSpPr>
          <p:cNvPr id="293" name="Google Shape;293;p14"/>
          <p:cNvSpPr txBox="1"/>
          <p:nvPr/>
        </p:nvSpPr>
        <p:spPr>
          <a:xfrm>
            <a:off x="7498080" y="2606040"/>
            <a:ext cx="16459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Partner services</a:t>
            </a:r>
            <a:endParaRPr b="0" i="0" sz="1500" u="none" cap="none" strike="noStrike">
              <a:solidFill>
                <a:schemeClr val="dk1"/>
              </a:solidFill>
              <a:latin typeface="Calibri"/>
              <a:ea typeface="Calibri"/>
              <a:cs typeface="Calibri"/>
              <a:sym typeface="Calibri"/>
            </a:endParaRPr>
          </a:p>
        </p:txBody>
      </p:sp>
      <p:sp>
        <p:nvSpPr>
          <p:cNvPr id="294" name="Google Shape;294;p14"/>
          <p:cNvSpPr/>
          <p:nvPr/>
        </p:nvSpPr>
        <p:spPr>
          <a:xfrm>
            <a:off x="9299448" y="2304288"/>
            <a:ext cx="329184" cy="274320"/>
          </a:xfrm>
          <a:prstGeom prst="right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4"/>
          <p:cNvSpPr/>
          <p:nvPr/>
        </p:nvSpPr>
        <p:spPr>
          <a:xfrm>
            <a:off x="9692640" y="1737360"/>
            <a:ext cx="1828800" cy="1417320"/>
          </a:xfrm>
          <a:prstGeom prst="roundRect">
            <a:avLst>
              <a:gd fmla="val 774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4"/>
          <p:cNvSpPr/>
          <p:nvPr/>
        </p:nvSpPr>
        <p:spPr>
          <a:xfrm>
            <a:off x="10332720" y="1920240"/>
            <a:ext cx="548640" cy="548640"/>
          </a:xfrm>
          <a:prstGeom prst="ellipse">
            <a:avLst/>
          </a:prstGeom>
          <a:solidFill>
            <a:srgbClr val="F339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yncAlt icon" id="297" name="Google Shape;297;p14"/>
          <p:cNvPicPr preferRelativeResize="0"/>
          <p:nvPr/>
        </p:nvPicPr>
        <p:blipFill rotWithShape="1">
          <a:blip r:embed="rId7">
            <a:alphaModFix/>
          </a:blip>
          <a:srcRect b="0" l="0" r="0" t="0"/>
          <a:stretch/>
        </p:blipFill>
        <p:spPr>
          <a:xfrm>
            <a:off x="10469880" y="2057400"/>
            <a:ext cx="274320" cy="274320"/>
          </a:xfrm>
          <a:prstGeom prst="rect">
            <a:avLst/>
          </a:prstGeom>
          <a:noFill/>
          <a:ln>
            <a:noFill/>
          </a:ln>
        </p:spPr>
      </p:pic>
      <p:sp>
        <p:nvSpPr>
          <p:cNvPr id="298" name="Google Shape;298;p14"/>
          <p:cNvSpPr txBox="1"/>
          <p:nvPr/>
        </p:nvSpPr>
        <p:spPr>
          <a:xfrm>
            <a:off x="9784080" y="2606040"/>
            <a:ext cx="16459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Recurring revenue</a:t>
            </a:r>
            <a:endParaRPr b="0" i="0" sz="1500" u="none" cap="none" strike="noStrike">
              <a:solidFill>
                <a:schemeClr val="dk1"/>
              </a:solidFill>
              <a:latin typeface="Calibri"/>
              <a:ea typeface="Calibri"/>
              <a:cs typeface="Calibri"/>
              <a:sym typeface="Calibri"/>
            </a:endParaRPr>
          </a:p>
        </p:txBody>
      </p:sp>
      <p:sp>
        <p:nvSpPr>
          <p:cNvPr id="299" name="Google Shape;299;p14"/>
          <p:cNvSpPr/>
          <p:nvPr/>
        </p:nvSpPr>
        <p:spPr>
          <a:xfrm>
            <a:off x="548640" y="3429000"/>
            <a:ext cx="3547872" cy="2011680"/>
          </a:xfrm>
          <a:prstGeom prst="roundRect">
            <a:avLst>
              <a:gd fmla="val 5455"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4"/>
          <p:cNvSpPr txBox="1"/>
          <p:nvPr/>
        </p:nvSpPr>
        <p:spPr>
          <a:xfrm>
            <a:off x="822960" y="3657600"/>
            <a:ext cx="30175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900"/>
              <a:buFont typeface="Calibri"/>
              <a:buNone/>
            </a:pPr>
            <a:r>
              <a:rPr b="1" i="0" lang="en-US" sz="1900" u="none" cap="none" strike="noStrike">
                <a:solidFill>
                  <a:schemeClr val="lt1"/>
                </a:solidFill>
                <a:latin typeface="Calibri"/>
                <a:ea typeface="Calibri"/>
                <a:cs typeface="Calibri"/>
                <a:sym typeface="Calibri"/>
              </a:rPr>
              <a:t>Subscription</a:t>
            </a:r>
            <a:endParaRPr b="0" i="0" sz="1900" u="none" cap="none" strike="noStrike">
              <a:solidFill>
                <a:schemeClr val="dk1"/>
              </a:solidFill>
              <a:latin typeface="Calibri"/>
              <a:ea typeface="Calibri"/>
              <a:cs typeface="Calibri"/>
              <a:sym typeface="Calibri"/>
            </a:endParaRPr>
          </a:p>
        </p:txBody>
      </p:sp>
      <p:sp>
        <p:nvSpPr>
          <p:cNvPr id="301" name="Google Shape;301;p14"/>
          <p:cNvSpPr txBox="1"/>
          <p:nvPr/>
        </p:nvSpPr>
        <p:spPr>
          <a:xfrm>
            <a:off x="822960" y="4297680"/>
            <a:ext cx="30175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2"/>
              </a:buClr>
              <a:buSzPts val="1500"/>
              <a:buFont typeface="Calibri"/>
              <a:buNone/>
            </a:pPr>
            <a:r>
              <a:rPr b="0" i="0" lang="en-US" sz="1500" u="none" cap="none" strike="noStrike">
                <a:solidFill>
                  <a:schemeClr val="lt2"/>
                </a:solidFill>
                <a:latin typeface="Calibri"/>
                <a:ea typeface="Calibri"/>
                <a:cs typeface="Calibri"/>
                <a:sym typeface="Calibri"/>
              </a:rPr>
              <a:t>₹4,999 a month. Recurring revenue that pays for the wheelchair, care, supplements and the platform.</a:t>
            </a:r>
            <a:endParaRPr b="0" i="0" sz="1500" u="none" cap="none" strike="noStrike">
              <a:solidFill>
                <a:schemeClr val="dk1"/>
              </a:solidFill>
              <a:latin typeface="Calibri"/>
              <a:ea typeface="Calibri"/>
              <a:cs typeface="Calibri"/>
              <a:sym typeface="Calibri"/>
            </a:endParaRPr>
          </a:p>
        </p:txBody>
      </p:sp>
      <p:sp>
        <p:nvSpPr>
          <p:cNvPr id="302" name="Google Shape;302;p14"/>
          <p:cNvSpPr/>
          <p:nvPr/>
        </p:nvSpPr>
        <p:spPr>
          <a:xfrm>
            <a:off x="4315968" y="3429000"/>
            <a:ext cx="3547872" cy="2011680"/>
          </a:xfrm>
          <a:prstGeom prst="roundRect">
            <a:avLst>
              <a:gd fmla="val 5455"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4"/>
          <p:cNvSpPr txBox="1"/>
          <p:nvPr/>
        </p:nvSpPr>
        <p:spPr>
          <a:xfrm>
            <a:off x="4590288" y="3657600"/>
            <a:ext cx="30175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900"/>
              <a:buFont typeface="Calibri"/>
              <a:buNone/>
            </a:pPr>
            <a:r>
              <a:rPr b="1" i="0" lang="en-US" sz="1900" u="none" cap="none" strike="noStrike">
                <a:solidFill>
                  <a:schemeClr val="lt1"/>
                </a:solidFill>
                <a:latin typeface="Calibri"/>
                <a:ea typeface="Calibri"/>
                <a:cs typeface="Calibri"/>
                <a:sym typeface="Calibri"/>
              </a:rPr>
              <a:t>Partner commissions</a:t>
            </a:r>
            <a:endParaRPr b="0" i="0" sz="1900" u="none" cap="none" strike="noStrike">
              <a:solidFill>
                <a:schemeClr val="dk1"/>
              </a:solidFill>
              <a:latin typeface="Calibri"/>
              <a:ea typeface="Calibri"/>
              <a:cs typeface="Calibri"/>
              <a:sym typeface="Calibri"/>
            </a:endParaRPr>
          </a:p>
        </p:txBody>
      </p:sp>
      <p:sp>
        <p:nvSpPr>
          <p:cNvPr id="304" name="Google Shape;304;p14"/>
          <p:cNvSpPr txBox="1"/>
          <p:nvPr/>
        </p:nvSpPr>
        <p:spPr>
          <a:xfrm>
            <a:off x="4590288" y="4297680"/>
            <a:ext cx="30175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2"/>
              </a:buClr>
              <a:buSzPts val="1500"/>
              <a:buFont typeface="Calibri"/>
              <a:buNone/>
            </a:pPr>
            <a:r>
              <a:rPr b="0" i="0" lang="en-US" sz="1500" u="none" cap="none" strike="noStrike">
                <a:solidFill>
                  <a:schemeClr val="lt2"/>
                </a:solidFill>
                <a:latin typeface="Calibri"/>
                <a:ea typeface="Calibri"/>
                <a:cs typeface="Calibri"/>
                <a:sym typeface="Calibri"/>
              </a:rPr>
              <a:t>Food, grooming and vet partners. Home meal delivery is a proven model for humans; we bring it to dogs.</a:t>
            </a:r>
            <a:endParaRPr b="0" i="0" sz="1500" u="none" cap="none" strike="noStrike">
              <a:solidFill>
                <a:schemeClr val="dk1"/>
              </a:solidFill>
              <a:latin typeface="Calibri"/>
              <a:ea typeface="Calibri"/>
              <a:cs typeface="Calibri"/>
              <a:sym typeface="Calibri"/>
            </a:endParaRPr>
          </a:p>
        </p:txBody>
      </p:sp>
      <p:sp>
        <p:nvSpPr>
          <p:cNvPr id="305" name="Google Shape;305;p14"/>
          <p:cNvSpPr/>
          <p:nvPr/>
        </p:nvSpPr>
        <p:spPr>
          <a:xfrm>
            <a:off x="8083296" y="3429000"/>
            <a:ext cx="3547872" cy="2011680"/>
          </a:xfrm>
          <a:prstGeom prst="roundRect">
            <a:avLst>
              <a:gd fmla="val 5455"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4"/>
          <p:cNvSpPr txBox="1"/>
          <p:nvPr/>
        </p:nvSpPr>
        <p:spPr>
          <a:xfrm>
            <a:off x="8357616" y="3657600"/>
            <a:ext cx="30175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900"/>
              <a:buFont typeface="Calibri"/>
              <a:buNone/>
            </a:pPr>
            <a:r>
              <a:rPr b="1" i="0" lang="en-US" sz="1900" u="none" cap="none" strike="noStrike">
                <a:solidFill>
                  <a:schemeClr val="lt1"/>
                </a:solidFill>
                <a:latin typeface="Calibri"/>
                <a:ea typeface="Calibri"/>
                <a:cs typeface="Calibri"/>
                <a:sym typeface="Calibri"/>
              </a:rPr>
              <a:t>Bulk pharma and supplement margins</a:t>
            </a:r>
            <a:endParaRPr b="0" i="0" sz="1900" u="none" cap="none" strike="noStrike">
              <a:solidFill>
                <a:schemeClr val="dk1"/>
              </a:solidFill>
              <a:latin typeface="Calibri"/>
              <a:ea typeface="Calibri"/>
              <a:cs typeface="Calibri"/>
              <a:sym typeface="Calibri"/>
            </a:endParaRPr>
          </a:p>
        </p:txBody>
      </p:sp>
      <p:sp>
        <p:nvSpPr>
          <p:cNvPr id="307" name="Google Shape;307;p14"/>
          <p:cNvSpPr txBox="1"/>
          <p:nvPr/>
        </p:nvSpPr>
        <p:spPr>
          <a:xfrm>
            <a:off x="8357616" y="4297680"/>
            <a:ext cx="30175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2"/>
              </a:buClr>
              <a:buSzPts val="1500"/>
              <a:buFont typeface="Calibri"/>
              <a:buNone/>
            </a:pPr>
            <a:r>
              <a:rPr b="0" i="0" lang="en-US" sz="1500" u="none" cap="none" strike="noStrike">
                <a:solidFill>
                  <a:schemeClr val="lt2"/>
                </a:solidFill>
                <a:latin typeface="Calibri"/>
                <a:ea typeface="Calibri"/>
                <a:cs typeface="Calibri"/>
                <a:sym typeface="Calibri"/>
              </a:rPr>
              <a:t>Fixed rates from pharmaceutical companies and fixed fees for doctor appointments keep prices low.</a:t>
            </a:r>
            <a:endParaRPr b="0" i="0" sz="1500" u="none" cap="none" strike="noStrike">
              <a:solidFill>
                <a:schemeClr val="dk1"/>
              </a:solidFill>
              <a:latin typeface="Calibri"/>
              <a:ea typeface="Calibri"/>
              <a:cs typeface="Calibri"/>
              <a:sym typeface="Calibri"/>
            </a:endParaRPr>
          </a:p>
        </p:txBody>
      </p:sp>
      <p:sp>
        <p:nvSpPr>
          <p:cNvPr id="308" name="Google Shape;308;p14"/>
          <p:cNvSpPr/>
          <p:nvPr/>
        </p:nvSpPr>
        <p:spPr>
          <a:xfrm>
            <a:off x="548640" y="5669280"/>
            <a:ext cx="3657600" cy="502920"/>
          </a:xfrm>
          <a:prstGeom prst="roundRect">
            <a:avLst>
              <a:gd fmla="val 21818"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4"/>
          <p:cNvSpPr txBox="1"/>
          <p:nvPr/>
        </p:nvSpPr>
        <p:spPr>
          <a:xfrm>
            <a:off x="548640" y="5669280"/>
            <a:ext cx="36576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Wheelchair patents owned by ResQ</a:t>
            </a:r>
            <a:endParaRPr b="0" i="0" sz="1400" u="none" cap="none" strike="noStrike">
              <a:solidFill>
                <a:schemeClr val="dk1"/>
              </a:solidFill>
              <a:latin typeface="Calibri"/>
              <a:ea typeface="Calibri"/>
              <a:cs typeface="Calibri"/>
              <a:sym typeface="Calibri"/>
            </a:endParaRPr>
          </a:p>
        </p:txBody>
      </p:sp>
      <p:sp>
        <p:nvSpPr>
          <p:cNvPr id="310" name="Google Shape;310;p14"/>
          <p:cNvSpPr/>
          <p:nvPr/>
        </p:nvSpPr>
        <p:spPr>
          <a:xfrm>
            <a:off x="4389120" y="5669280"/>
            <a:ext cx="2651760" cy="502920"/>
          </a:xfrm>
          <a:prstGeom prst="roundRect">
            <a:avLst>
              <a:gd fmla="val 2181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4"/>
          <p:cNvSpPr txBox="1"/>
          <p:nvPr/>
        </p:nvSpPr>
        <p:spPr>
          <a:xfrm>
            <a:off x="4389120" y="5669280"/>
            <a:ext cx="26517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Pawful: household meals</a:t>
            </a:r>
            <a:endParaRPr b="0" i="0" sz="1400" u="none" cap="none" strike="noStrike">
              <a:solidFill>
                <a:schemeClr val="dk1"/>
              </a:solidFill>
              <a:latin typeface="Calibri"/>
              <a:ea typeface="Calibri"/>
              <a:cs typeface="Calibri"/>
              <a:sym typeface="Calibri"/>
            </a:endParaRPr>
          </a:p>
        </p:txBody>
      </p:sp>
      <p:sp>
        <p:nvSpPr>
          <p:cNvPr id="312" name="Google Shape;312;p14"/>
          <p:cNvSpPr/>
          <p:nvPr/>
        </p:nvSpPr>
        <p:spPr>
          <a:xfrm>
            <a:off x="7223760" y="5669280"/>
            <a:ext cx="2194560" cy="502920"/>
          </a:xfrm>
          <a:prstGeom prst="roundRect">
            <a:avLst>
              <a:gd fmla="val 2181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4"/>
          <p:cNvSpPr txBox="1"/>
          <p:nvPr/>
        </p:nvSpPr>
        <p:spPr>
          <a:xfrm>
            <a:off x="7223760" y="5669280"/>
            <a:ext cx="219456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Vets and specialists</a:t>
            </a:r>
            <a:endParaRPr b="0" i="0" sz="1400" u="none" cap="none" strike="noStrike">
              <a:solidFill>
                <a:schemeClr val="dk1"/>
              </a:solidFill>
              <a:latin typeface="Calibri"/>
              <a:ea typeface="Calibri"/>
              <a:cs typeface="Calibri"/>
              <a:sym typeface="Calibri"/>
            </a:endParaRPr>
          </a:p>
        </p:txBody>
      </p:sp>
      <p:sp>
        <p:nvSpPr>
          <p:cNvPr id="314" name="Google Shape;314;p14"/>
          <p:cNvSpPr/>
          <p:nvPr/>
        </p:nvSpPr>
        <p:spPr>
          <a:xfrm>
            <a:off x="9601200" y="5669280"/>
            <a:ext cx="2011680" cy="502920"/>
          </a:xfrm>
          <a:prstGeom prst="roundRect">
            <a:avLst>
              <a:gd fmla="val 2181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4"/>
          <p:cNvSpPr txBox="1"/>
          <p:nvPr/>
        </p:nvSpPr>
        <p:spPr>
          <a:xfrm>
            <a:off x="9601200" y="5669280"/>
            <a:ext cx="201168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Grooming partners</a:t>
            </a:r>
            <a:endParaRPr b="0" i="0" sz="1400" u="none" cap="none" strike="noStrike">
              <a:solidFill>
                <a:schemeClr val="dk1"/>
              </a:solidFill>
              <a:latin typeface="Calibri"/>
              <a:ea typeface="Calibri"/>
              <a:cs typeface="Calibri"/>
              <a:sym typeface="Calibri"/>
            </a:endParaRPr>
          </a:p>
        </p:txBody>
      </p:sp>
      <p:sp>
        <p:nvSpPr>
          <p:cNvPr id="316" name="Google Shape;316;p14"/>
          <p:cNvSpPr txBox="1"/>
          <p:nvPr>
            <p:ph idx="4294967295" type="sldNum"/>
          </p:nvPr>
        </p:nvSpPr>
        <p:spPr>
          <a:xfrm>
            <a:off x="1097280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5"/>
          <p:cNvSpPr txBox="1"/>
          <p:nvPr>
            <p:ph type="title"/>
          </p:nvPr>
        </p:nvSpPr>
        <p:spPr>
          <a:xfrm>
            <a:off x="548640" y="384048"/>
            <a:ext cx="950976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One subscriber brings in ₹59,988 a year, and referrals keep the cost of finding them low</a:t>
            </a:r>
            <a:endParaRPr sz="3000"/>
          </a:p>
        </p:txBody>
      </p:sp>
      <p:sp>
        <p:nvSpPr>
          <p:cNvPr id="323" name="Google Shape;323;p15"/>
          <p:cNvSpPr/>
          <p:nvPr/>
        </p:nvSpPr>
        <p:spPr>
          <a:xfrm>
            <a:off x="548640" y="1783080"/>
            <a:ext cx="4572000" cy="4343400"/>
          </a:xfrm>
          <a:prstGeom prst="roundRect">
            <a:avLst>
              <a:gd fmla="val 2526"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5"/>
          <p:cNvSpPr txBox="1"/>
          <p:nvPr/>
        </p:nvSpPr>
        <p:spPr>
          <a:xfrm>
            <a:off x="914400" y="2057400"/>
            <a:ext cx="38404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300"/>
              <a:buFont typeface="Calibri"/>
              <a:buNone/>
            </a:pPr>
            <a:r>
              <a:rPr b="1" i="0" lang="en-US" sz="1300" u="none" cap="none" strike="noStrike">
                <a:solidFill>
                  <a:schemeClr val="accent3"/>
                </a:solidFill>
                <a:latin typeface="Calibri"/>
                <a:ea typeface="Calibri"/>
                <a:cs typeface="Calibri"/>
                <a:sym typeface="Calibri"/>
              </a:rPr>
              <a:t>PER SUBSCRIBER</a:t>
            </a:r>
            <a:endParaRPr b="0" i="0" sz="1300" u="none" cap="none" strike="noStrike">
              <a:solidFill>
                <a:schemeClr val="dk1"/>
              </a:solidFill>
              <a:latin typeface="Calibri"/>
              <a:ea typeface="Calibri"/>
              <a:cs typeface="Calibri"/>
              <a:sym typeface="Calibri"/>
            </a:endParaRPr>
          </a:p>
        </p:txBody>
      </p:sp>
      <p:sp>
        <p:nvSpPr>
          <p:cNvPr id="325" name="Google Shape;325;p15"/>
          <p:cNvSpPr txBox="1"/>
          <p:nvPr/>
        </p:nvSpPr>
        <p:spPr>
          <a:xfrm>
            <a:off x="914400" y="2514600"/>
            <a:ext cx="38404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600"/>
              <a:buFont typeface="Arial"/>
              <a:buNone/>
            </a:pPr>
            <a:r>
              <a:rPr b="1" i="0" lang="en-US" sz="2600" u="none" cap="none" strike="noStrike">
                <a:solidFill>
                  <a:schemeClr val="lt1"/>
                </a:solidFill>
                <a:latin typeface="Arial"/>
                <a:ea typeface="Arial"/>
                <a:cs typeface="Arial"/>
                <a:sym typeface="Arial"/>
              </a:rPr>
              <a:t>₹4,999 a month</a:t>
            </a:r>
            <a:endParaRPr b="0" i="0" sz="2600" u="none" cap="none" strike="noStrike">
              <a:solidFill>
                <a:schemeClr val="dk1"/>
              </a:solidFill>
              <a:latin typeface="Calibri"/>
              <a:ea typeface="Calibri"/>
              <a:cs typeface="Calibri"/>
              <a:sym typeface="Calibri"/>
            </a:endParaRPr>
          </a:p>
        </p:txBody>
      </p:sp>
      <p:sp>
        <p:nvSpPr>
          <p:cNvPr id="326" name="Google Shape;326;p15"/>
          <p:cNvSpPr txBox="1"/>
          <p:nvPr/>
        </p:nvSpPr>
        <p:spPr>
          <a:xfrm>
            <a:off x="914400" y="3108960"/>
            <a:ext cx="384048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2000"/>
              <a:buFont typeface="Calibri"/>
              <a:buNone/>
            </a:pPr>
            <a:r>
              <a:rPr b="0" i="0" lang="en-US" sz="2000" u="none" cap="none" strike="noStrike">
                <a:solidFill>
                  <a:schemeClr val="accent4"/>
                </a:solidFill>
                <a:latin typeface="Calibri"/>
                <a:ea typeface="Calibri"/>
                <a:cs typeface="Calibri"/>
                <a:sym typeface="Calibri"/>
              </a:rPr>
              <a:t>× 12 months</a:t>
            </a:r>
            <a:endParaRPr b="0" i="0" sz="2000" u="none" cap="none" strike="noStrike">
              <a:solidFill>
                <a:schemeClr val="dk1"/>
              </a:solidFill>
              <a:latin typeface="Calibri"/>
              <a:ea typeface="Calibri"/>
              <a:cs typeface="Calibri"/>
              <a:sym typeface="Calibri"/>
            </a:endParaRPr>
          </a:p>
        </p:txBody>
      </p:sp>
      <p:sp>
        <p:nvSpPr>
          <p:cNvPr id="327" name="Google Shape;327;p15"/>
          <p:cNvSpPr txBox="1"/>
          <p:nvPr/>
        </p:nvSpPr>
        <p:spPr>
          <a:xfrm>
            <a:off x="914400" y="3703320"/>
            <a:ext cx="38404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5400"/>
              <a:buFont typeface="Arial"/>
              <a:buNone/>
            </a:pPr>
            <a:r>
              <a:rPr b="1" i="0" lang="en-US" sz="5400" u="none" cap="none" strike="noStrike">
                <a:solidFill>
                  <a:schemeClr val="accent3"/>
                </a:solidFill>
                <a:latin typeface="Arial"/>
                <a:ea typeface="Arial"/>
                <a:cs typeface="Arial"/>
                <a:sym typeface="Arial"/>
              </a:rPr>
              <a:t>₹59,988</a:t>
            </a:r>
            <a:endParaRPr b="0" i="0" sz="5400" u="none" cap="none" strike="noStrike">
              <a:solidFill>
                <a:schemeClr val="dk1"/>
              </a:solidFill>
              <a:latin typeface="Calibri"/>
              <a:ea typeface="Calibri"/>
              <a:cs typeface="Calibri"/>
              <a:sym typeface="Calibri"/>
            </a:endParaRPr>
          </a:p>
        </p:txBody>
      </p:sp>
      <p:sp>
        <p:nvSpPr>
          <p:cNvPr id="328" name="Google Shape;328;p15"/>
          <p:cNvSpPr txBox="1"/>
          <p:nvPr/>
        </p:nvSpPr>
        <p:spPr>
          <a:xfrm>
            <a:off x="914400" y="4709160"/>
            <a:ext cx="38404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0" i="0" lang="en-US" sz="1600" u="none" cap="none" strike="noStrike">
                <a:solidFill>
                  <a:schemeClr val="lt1"/>
                </a:solidFill>
                <a:latin typeface="Calibri"/>
                <a:ea typeface="Calibri"/>
                <a:cs typeface="Calibri"/>
                <a:sym typeface="Calibri"/>
              </a:rPr>
              <a:t>revenue per subscriber per year, before cost to serve</a:t>
            </a:r>
            <a:endParaRPr b="0" i="0" sz="1600" u="none" cap="none" strike="noStrike">
              <a:solidFill>
                <a:schemeClr val="dk1"/>
              </a:solidFill>
              <a:latin typeface="Calibri"/>
              <a:ea typeface="Calibri"/>
              <a:cs typeface="Calibri"/>
              <a:sym typeface="Calibri"/>
            </a:endParaRPr>
          </a:p>
        </p:txBody>
      </p:sp>
      <p:sp>
        <p:nvSpPr>
          <p:cNvPr id="329" name="Google Shape;329;p15"/>
          <p:cNvSpPr/>
          <p:nvPr/>
        </p:nvSpPr>
        <p:spPr>
          <a:xfrm>
            <a:off x="5486400" y="1783080"/>
            <a:ext cx="6153912" cy="2514600"/>
          </a:xfrm>
          <a:prstGeom prst="roundRect">
            <a:avLst>
              <a:gd fmla="val 4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5"/>
          <p:cNvSpPr txBox="1"/>
          <p:nvPr/>
        </p:nvSpPr>
        <p:spPr>
          <a:xfrm>
            <a:off x="5806440" y="1965960"/>
            <a:ext cx="54864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Calibri"/>
              <a:buNone/>
            </a:pPr>
            <a:r>
              <a:rPr b="1" i="0" lang="en-US" sz="2000" u="none" cap="none" strike="noStrike">
                <a:solidFill>
                  <a:schemeClr val="dk1"/>
                </a:solidFill>
                <a:latin typeface="Calibri"/>
                <a:ea typeface="Calibri"/>
                <a:cs typeface="Calibri"/>
                <a:sym typeface="Calibri"/>
              </a:rPr>
              <a:t>Customer acquisition</a:t>
            </a:r>
            <a:endParaRPr b="0" i="0" sz="2000" u="none" cap="none" strike="noStrike">
              <a:solidFill>
                <a:schemeClr val="dk1"/>
              </a:solidFill>
              <a:latin typeface="Calibri"/>
              <a:ea typeface="Calibri"/>
              <a:cs typeface="Calibri"/>
              <a:sym typeface="Calibri"/>
            </a:endParaRPr>
          </a:p>
        </p:txBody>
      </p:sp>
      <p:sp>
        <p:nvSpPr>
          <p:cNvPr id="331" name="Google Shape;331;p15"/>
          <p:cNvSpPr txBox="1"/>
          <p:nvPr/>
        </p:nvSpPr>
        <p:spPr>
          <a:xfrm>
            <a:off x="5806440" y="2514600"/>
            <a:ext cx="5577840" cy="164592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Paid CAC is expected to be near zero, driven by referrals</a:t>
            </a:r>
            <a:endParaRPr b="0" i="0" sz="16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The included wheelchair is the main upfront cost per subscriber</a:t>
            </a:r>
            <a:endParaRPr b="0" i="0" sz="16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Every wheelchair delivered is a story people share</a:t>
            </a:r>
            <a:endParaRPr b="0" i="0" sz="1600" u="none" cap="none" strike="noStrike">
              <a:solidFill>
                <a:schemeClr val="dk1"/>
              </a:solidFill>
              <a:latin typeface="Calibri"/>
              <a:ea typeface="Calibri"/>
              <a:cs typeface="Calibri"/>
              <a:sym typeface="Calibri"/>
            </a:endParaRPr>
          </a:p>
        </p:txBody>
      </p:sp>
      <p:sp>
        <p:nvSpPr>
          <p:cNvPr id="332" name="Google Shape;332;p15"/>
          <p:cNvSpPr/>
          <p:nvPr/>
        </p:nvSpPr>
        <p:spPr>
          <a:xfrm>
            <a:off x="5486400" y="4480560"/>
            <a:ext cx="6153912" cy="1645920"/>
          </a:xfrm>
          <a:prstGeom prst="roundRect">
            <a:avLst>
              <a:gd fmla="val 6667"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5"/>
          <p:cNvSpPr txBox="1"/>
          <p:nvPr/>
        </p:nvSpPr>
        <p:spPr>
          <a:xfrm>
            <a:off x="5806440" y="4617720"/>
            <a:ext cx="54864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How we will track it</a:t>
            </a:r>
            <a:endParaRPr b="0" i="0" sz="1800" u="none" cap="none" strike="noStrike">
              <a:solidFill>
                <a:schemeClr val="dk1"/>
              </a:solidFill>
              <a:latin typeface="Calibri"/>
              <a:ea typeface="Calibri"/>
              <a:cs typeface="Calibri"/>
              <a:sym typeface="Calibri"/>
            </a:endParaRPr>
          </a:p>
        </p:txBody>
      </p:sp>
      <p:sp>
        <p:nvSpPr>
          <p:cNvPr id="334" name="Google Shape;334;p15"/>
          <p:cNvSpPr txBox="1"/>
          <p:nvPr/>
        </p:nvSpPr>
        <p:spPr>
          <a:xfrm>
            <a:off x="5806440" y="5029200"/>
            <a:ext cx="5577840" cy="100584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Payback period = CAC ÷ monthly margin per subscriber</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Lifetime value = monthly margin × months retained</a:t>
            </a:r>
            <a:endParaRPr b="0" i="0" sz="1500" u="none" cap="none" strike="noStrike">
              <a:solidFill>
                <a:schemeClr val="dk1"/>
              </a:solidFill>
              <a:latin typeface="Calibri"/>
              <a:ea typeface="Calibri"/>
              <a:cs typeface="Calibri"/>
              <a:sym typeface="Calibri"/>
            </a:endParaRPr>
          </a:p>
        </p:txBody>
      </p:sp>
      <p:sp>
        <p:nvSpPr>
          <p:cNvPr id="335" name="Google Shape;335;p15"/>
          <p:cNvSpPr txBox="1"/>
          <p:nvPr>
            <p:ph idx="4294967295" type="sldNum"/>
          </p:nvPr>
        </p:nvSpPr>
        <p:spPr>
          <a:xfrm>
            <a:off x="1097280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6"/>
          <p:cNvSpPr txBox="1"/>
          <p:nvPr>
            <p:ph type="title"/>
          </p:nvPr>
        </p:nvSpPr>
        <p:spPr>
          <a:xfrm>
            <a:off x="548640" y="384048"/>
            <a:ext cx="950976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An included wheelchair is our marketing</a:t>
            </a:r>
            <a:endParaRPr sz="3000"/>
          </a:p>
        </p:txBody>
      </p:sp>
      <p:sp>
        <p:nvSpPr>
          <p:cNvPr id="342" name="Google Shape;342;p16"/>
          <p:cNvSpPr/>
          <p:nvPr/>
        </p:nvSpPr>
        <p:spPr>
          <a:xfrm>
            <a:off x="548640" y="1691640"/>
            <a:ext cx="4572000" cy="777240"/>
          </a:xfrm>
          <a:prstGeom prst="roundRect">
            <a:avLst>
              <a:gd fmla="val 14118"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6"/>
          <p:cNvSpPr txBox="1"/>
          <p:nvPr/>
        </p:nvSpPr>
        <p:spPr>
          <a:xfrm>
            <a:off x="548640" y="1691640"/>
            <a:ext cx="457200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2000"/>
              <a:buFont typeface="Calibri"/>
              <a:buNone/>
            </a:pPr>
            <a:r>
              <a:rPr b="1" i="0" lang="en-US" sz="2000" u="none" cap="none" strike="noStrike">
                <a:solidFill>
                  <a:schemeClr val="accent3"/>
                </a:solidFill>
                <a:latin typeface="Calibri"/>
                <a:ea typeface="Calibri"/>
                <a:cs typeface="Calibri"/>
                <a:sym typeface="Calibri"/>
              </a:rPr>
              <a:t>1  </a:t>
            </a:r>
            <a:r>
              <a:rPr b="1" i="0" lang="en-US" sz="2000" u="none" cap="none" strike="noStrike">
                <a:solidFill>
                  <a:schemeClr val="lt1"/>
                </a:solidFill>
                <a:latin typeface="Calibri"/>
                <a:ea typeface="Calibri"/>
                <a:cs typeface="Calibri"/>
                <a:sym typeface="Calibri"/>
              </a:rPr>
              <a:t>Wheelchair included</a:t>
            </a:r>
            <a:endParaRPr b="0" i="0" sz="2000" u="none" cap="none" strike="noStrike">
              <a:solidFill>
                <a:schemeClr val="dk1"/>
              </a:solidFill>
              <a:latin typeface="Calibri"/>
              <a:ea typeface="Calibri"/>
              <a:cs typeface="Calibri"/>
              <a:sym typeface="Calibri"/>
            </a:endParaRPr>
          </a:p>
        </p:txBody>
      </p:sp>
      <p:sp>
        <p:nvSpPr>
          <p:cNvPr id="344" name="Google Shape;344;p16"/>
          <p:cNvSpPr/>
          <p:nvPr/>
        </p:nvSpPr>
        <p:spPr>
          <a:xfrm>
            <a:off x="5349240" y="1920240"/>
            <a:ext cx="411480" cy="320040"/>
          </a:xfrm>
          <a:prstGeom prst="right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6"/>
          <p:cNvSpPr/>
          <p:nvPr/>
        </p:nvSpPr>
        <p:spPr>
          <a:xfrm>
            <a:off x="5989320" y="1691640"/>
            <a:ext cx="4572000" cy="777240"/>
          </a:xfrm>
          <a:prstGeom prst="roundRect">
            <a:avLst>
              <a:gd fmla="val 14118"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6"/>
          <p:cNvSpPr txBox="1"/>
          <p:nvPr/>
        </p:nvSpPr>
        <p:spPr>
          <a:xfrm>
            <a:off x="5989320" y="1691640"/>
            <a:ext cx="457200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000"/>
              <a:buFont typeface="Calibri"/>
              <a:buNone/>
            </a:pPr>
            <a:r>
              <a:rPr b="1" i="0" lang="en-US" sz="2000" u="none" cap="none" strike="noStrike">
                <a:solidFill>
                  <a:schemeClr val="lt1"/>
                </a:solidFill>
                <a:latin typeface="Calibri"/>
                <a:ea typeface="Calibri"/>
                <a:cs typeface="Calibri"/>
                <a:sym typeface="Calibri"/>
              </a:rPr>
              <a:t>2  Subscription pays for ongoing care</a:t>
            </a:r>
            <a:endParaRPr b="0" i="0" sz="2000" u="none" cap="none" strike="noStrike">
              <a:solidFill>
                <a:schemeClr val="dk1"/>
              </a:solidFill>
              <a:latin typeface="Calibri"/>
              <a:ea typeface="Calibri"/>
              <a:cs typeface="Calibri"/>
              <a:sym typeface="Calibri"/>
            </a:endParaRPr>
          </a:p>
        </p:txBody>
      </p:sp>
      <p:sp>
        <p:nvSpPr>
          <p:cNvPr id="347" name="Google Shape;347;p16"/>
          <p:cNvSpPr/>
          <p:nvPr/>
        </p:nvSpPr>
        <p:spPr>
          <a:xfrm>
            <a:off x="548640" y="2788920"/>
            <a:ext cx="3547872" cy="2240280"/>
          </a:xfrm>
          <a:prstGeom prst="roundRect">
            <a:avLst>
              <a:gd fmla="val 489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6"/>
          <p:cNvSpPr/>
          <p:nvPr/>
        </p:nvSpPr>
        <p:spPr>
          <a:xfrm>
            <a:off x="822960" y="3063240"/>
            <a:ext cx="685800" cy="685800"/>
          </a:xfrm>
          <a:prstGeom prst="ellipse">
            <a:avLst/>
          </a:prstGeom>
          <a:solidFill>
            <a:srgbClr val="F339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Bullhorn icon" id="349" name="Google Shape;349;p16"/>
          <p:cNvPicPr preferRelativeResize="0"/>
          <p:nvPr/>
        </p:nvPicPr>
        <p:blipFill rotWithShape="1">
          <a:blip r:embed="rId3">
            <a:alphaModFix/>
          </a:blip>
          <a:srcRect b="0" l="0" r="0" t="0"/>
          <a:stretch/>
        </p:blipFill>
        <p:spPr>
          <a:xfrm>
            <a:off x="994410" y="3234690"/>
            <a:ext cx="342900" cy="342900"/>
          </a:xfrm>
          <a:prstGeom prst="rect">
            <a:avLst/>
          </a:prstGeom>
          <a:noFill/>
          <a:ln>
            <a:noFill/>
          </a:ln>
        </p:spPr>
      </p:pic>
      <p:sp>
        <p:nvSpPr>
          <p:cNvPr id="350" name="Google Shape;350;p16"/>
          <p:cNvSpPr txBox="1"/>
          <p:nvPr/>
        </p:nvSpPr>
        <p:spPr>
          <a:xfrm>
            <a:off x="1737360" y="3063240"/>
            <a:ext cx="21945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200"/>
              <a:buFont typeface="Calibri"/>
              <a:buNone/>
            </a:pPr>
            <a:r>
              <a:rPr b="1" i="0" lang="en-US" sz="2200" u="none" cap="none" strike="noStrike">
                <a:solidFill>
                  <a:schemeClr val="dk1"/>
                </a:solidFill>
                <a:latin typeface="Calibri"/>
                <a:ea typeface="Calibri"/>
                <a:cs typeface="Calibri"/>
                <a:sym typeface="Calibri"/>
              </a:rPr>
              <a:t>Publicity</a:t>
            </a:r>
            <a:endParaRPr b="0" i="0" sz="2200" u="none" cap="none" strike="noStrike">
              <a:solidFill>
                <a:schemeClr val="dk1"/>
              </a:solidFill>
              <a:latin typeface="Calibri"/>
              <a:ea typeface="Calibri"/>
              <a:cs typeface="Calibri"/>
              <a:sym typeface="Calibri"/>
            </a:endParaRPr>
          </a:p>
        </p:txBody>
      </p:sp>
      <p:sp>
        <p:nvSpPr>
          <p:cNvPr id="351" name="Google Shape;351;p16"/>
          <p:cNvSpPr txBox="1"/>
          <p:nvPr/>
        </p:nvSpPr>
        <p:spPr>
          <a:xfrm>
            <a:off x="822960" y="3977640"/>
            <a:ext cx="301752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Every wheelchair delivered is a story people share.</a:t>
            </a:r>
            <a:endParaRPr b="0" i="0" sz="1600" u="none" cap="none" strike="noStrike">
              <a:solidFill>
                <a:schemeClr val="dk1"/>
              </a:solidFill>
              <a:latin typeface="Calibri"/>
              <a:ea typeface="Calibri"/>
              <a:cs typeface="Calibri"/>
              <a:sym typeface="Calibri"/>
            </a:endParaRPr>
          </a:p>
        </p:txBody>
      </p:sp>
      <p:sp>
        <p:nvSpPr>
          <p:cNvPr id="352" name="Google Shape;352;p16"/>
          <p:cNvSpPr/>
          <p:nvPr/>
        </p:nvSpPr>
        <p:spPr>
          <a:xfrm>
            <a:off x="4315968" y="2788920"/>
            <a:ext cx="3547872" cy="2240280"/>
          </a:xfrm>
          <a:prstGeom prst="roundRect">
            <a:avLst>
              <a:gd fmla="val 489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6"/>
          <p:cNvSpPr/>
          <p:nvPr/>
        </p:nvSpPr>
        <p:spPr>
          <a:xfrm>
            <a:off x="4590288" y="3063240"/>
            <a:ext cx="685800" cy="685800"/>
          </a:xfrm>
          <a:prstGeom prst="ellipse">
            <a:avLst/>
          </a:prstGeom>
          <a:solidFill>
            <a:srgbClr val="F339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andsHelping icon" id="354" name="Google Shape;354;p16"/>
          <p:cNvPicPr preferRelativeResize="0"/>
          <p:nvPr/>
        </p:nvPicPr>
        <p:blipFill rotWithShape="1">
          <a:blip r:embed="rId4">
            <a:alphaModFix/>
          </a:blip>
          <a:srcRect b="0" l="0" r="0" t="0"/>
          <a:stretch/>
        </p:blipFill>
        <p:spPr>
          <a:xfrm>
            <a:off x="4761738" y="3234690"/>
            <a:ext cx="342900" cy="342900"/>
          </a:xfrm>
          <a:prstGeom prst="rect">
            <a:avLst/>
          </a:prstGeom>
          <a:noFill/>
          <a:ln>
            <a:noFill/>
          </a:ln>
        </p:spPr>
      </p:pic>
      <p:sp>
        <p:nvSpPr>
          <p:cNvPr id="355" name="Google Shape;355;p16"/>
          <p:cNvSpPr txBox="1"/>
          <p:nvPr/>
        </p:nvSpPr>
        <p:spPr>
          <a:xfrm>
            <a:off x="5504688" y="3063240"/>
            <a:ext cx="21945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200"/>
              <a:buFont typeface="Calibri"/>
              <a:buNone/>
            </a:pPr>
            <a:r>
              <a:rPr b="1" i="0" lang="en-US" sz="2200" u="none" cap="none" strike="noStrike">
                <a:solidFill>
                  <a:schemeClr val="dk1"/>
                </a:solidFill>
                <a:latin typeface="Calibri"/>
                <a:ea typeface="Calibri"/>
                <a:cs typeface="Calibri"/>
                <a:sym typeface="Calibri"/>
              </a:rPr>
              <a:t>NGO initiatives</a:t>
            </a:r>
            <a:endParaRPr b="0" i="0" sz="2200" u="none" cap="none" strike="noStrike">
              <a:solidFill>
                <a:schemeClr val="dk1"/>
              </a:solidFill>
              <a:latin typeface="Calibri"/>
              <a:ea typeface="Calibri"/>
              <a:cs typeface="Calibri"/>
              <a:sym typeface="Calibri"/>
            </a:endParaRPr>
          </a:p>
        </p:txBody>
      </p:sp>
      <p:sp>
        <p:nvSpPr>
          <p:cNvPr id="356" name="Google Shape;356;p16"/>
          <p:cNvSpPr txBox="1"/>
          <p:nvPr/>
        </p:nvSpPr>
        <p:spPr>
          <a:xfrm>
            <a:off x="4590288" y="3977640"/>
            <a:ext cx="301752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NGOs already run initiatives for animals, and we plug into them.</a:t>
            </a:r>
            <a:endParaRPr b="0" i="0" sz="1600" u="none" cap="none" strike="noStrike">
              <a:solidFill>
                <a:schemeClr val="dk1"/>
              </a:solidFill>
              <a:latin typeface="Calibri"/>
              <a:ea typeface="Calibri"/>
              <a:cs typeface="Calibri"/>
              <a:sym typeface="Calibri"/>
            </a:endParaRPr>
          </a:p>
        </p:txBody>
      </p:sp>
      <p:sp>
        <p:nvSpPr>
          <p:cNvPr id="357" name="Google Shape;357;p16"/>
          <p:cNvSpPr/>
          <p:nvPr/>
        </p:nvSpPr>
        <p:spPr>
          <a:xfrm>
            <a:off x="8083296" y="2788920"/>
            <a:ext cx="3547872" cy="2240280"/>
          </a:xfrm>
          <a:prstGeom prst="roundRect">
            <a:avLst>
              <a:gd fmla="val 489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6"/>
          <p:cNvSpPr/>
          <p:nvPr/>
        </p:nvSpPr>
        <p:spPr>
          <a:xfrm>
            <a:off x="8357616" y="3063240"/>
            <a:ext cx="685800" cy="685800"/>
          </a:xfrm>
          <a:prstGeom prst="ellipse">
            <a:avLst/>
          </a:prstGeom>
          <a:solidFill>
            <a:srgbClr val="F339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 icon" id="359" name="Google Shape;359;p16"/>
          <p:cNvPicPr preferRelativeResize="0"/>
          <p:nvPr/>
        </p:nvPicPr>
        <p:blipFill rotWithShape="1">
          <a:blip r:embed="rId5">
            <a:alphaModFix/>
          </a:blip>
          <a:srcRect b="0" l="0" r="0" t="0"/>
          <a:stretch/>
        </p:blipFill>
        <p:spPr>
          <a:xfrm>
            <a:off x="8529066" y="3234690"/>
            <a:ext cx="342900" cy="342900"/>
          </a:xfrm>
          <a:prstGeom prst="rect">
            <a:avLst/>
          </a:prstGeom>
          <a:noFill/>
          <a:ln>
            <a:noFill/>
          </a:ln>
        </p:spPr>
      </p:pic>
      <p:sp>
        <p:nvSpPr>
          <p:cNvPr id="360" name="Google Shape;360;p16"/>
          <p:cNvSpPr txBox="1"/>
          <p:nvPr/>
        </p:nvSpPr>
        <p:spPr>
          <a:xfrm>
            <a:off x="9272016" y="3063240"/>
            <a:ext cx="21945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200"/>
              <a:buFont typeface="Calibri"/>
              <a:buNone/>
            </a:pPr>
            <a:r>
              <a:rPr b="1" i="0" lang="en-US" sz="2200" u="none" cap="none" strike="noStrike">
                <a:solidFill>
                  <a:schemeClr val="dk1"/>
                </a:solidFill>
                <a:latin typeface="Calibri"/>
                <a:ea typeface="Calibri"/>
                <a:cs typeface="Calibri"/>
                <a:sym typeface="Calibri"/>
              </a:rPr>
              <a:t>Pet communities</a:t>
            </a:r>
            <a:endParaRPr b="0" i="0" sz="2200" u="none" cap="none" strike="noStrike">
              <a:solidFill>
                <a:schemeClr val="dk1"/>
              </a:solidFill>
              <a:latin typeface="Calibri"/>
              <a:ea typeface="Calibri"/>
              <a:cs typeface="Calibri"/>
              <a:sym typeface="Calibri"/>
            </a:endParaRPr>
          </a:p>
        </p:txBody>
      </p:sp>
      <p:sp>
        <p:nvSpPr>
          <p:cNvPr id="361" name="Google Shape;361;p16"/>
          <p:cNvSpPr txBox="1"/>
          <p:nvPr/>
        </p:nvSpPr>
        <p:spPr>
          <a:xfrm>
            <a:off x="8357616" y="3977640"/>
            <a:ext cx="301752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Owners spread the word through referrals.</a:t>
            </a:r>
            <a:endParaRPr b="0" i="0" sz="1600" u="none" cap="none" strike="noStrike">
              <a:solidFill>
                <a:schemeClr val="dk1"/>
              </a:solidFill>
              <a:latin typeface="Calibri"/>
              <a:ea typeface="Calibri"/>
              <a:cs typeface="Calibri"/>
              <a:sym typeface="Calibri"/>
            </a:endParaRPr>
          </a:p>
        </p:txBody>
      </p:sp>
      <p:sp>
        <p:nvSpPr>
          <p:cNvPr id="362" name="Google Shape;362;p16"/>
          <p:cNvSpPr/>
          <p:nvPr/>
        </p:nvSpPr>
        <p:spPr>
          <a:xfrm>
            <a:off x="548640" y="5257800"/>
            <a:ext cx="11091672" cy="914400"/>
          </a:xfrm>
          <a:prstGeom prst="roundRect">
            <a:avLst>
              <a:gd fmla="val 12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6"/>
          <p:cNvSpPr txBox="1"/>
          <p:nvPr/>
        </p:nvSpPr>
        <p:spPr>
          <a:xfrm>
            <a:off x="868680" y="5257800"/>
            <a:ext cx="2743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1300"/>
              <a:buFont typeface="Calibri"/>
              <a:buNone/>
            </a:pPr>
            <a:r>
              <a:rPr b="1" i="0" lang="en-US" sz="1300" u="none" cap="none" strike="noStrike">
                <a:solidFill>
                  <a:schemeClr val="accent3"/>
                </a:solidFill>
                <a:latin typeface="Calibri"/>
                <a:ea typeface="Calibri"/>
                <a:cs typeface="Calibri"/>
                <a:sym typeface="Calibri"/>
              </a:rPr>
              <a:t>NEXT 6 TO 12 MONTHS</a:t>
            </a:r>
            <a:endParaRPr b="0" i="0" sz="1300" u="none" cap="none" strike="noStrike">
              <a:solidFill>
                <a:schemeClr val="dk1"/>
              </a:solidFill>
              <a:latin typeface="Calibri"/>
              <a:ea typeface="Calibri"/>
              <a:cs typeface="Calibri"/>
              <a:sym typeface="Calibri"/>
            </a:endParaRPr>
          </a:p>
        </p:txBody>
      </p:sp>
      <p:sp>
        <p:nvSpPr>
          <p:cNvPr id="364" name="Google Shape;364;p16"/>
          <p:cNvSpPr txBox="1"/>
          <p:nvPr/>
        </p:nvSpPr>
        <p:spPr>
          <a:xfrm>
            <a:off x="3657600" y="5257800"/>
            <a:ext cx="7772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0" i="0" lang="en-US" sz="1800" u="none" cap="none" strike="noStrike">
                <a:solidFill>
                  <a:schemeClr val="lt1"/>
                </a:solidFill>
                <a:latin typeface="Calibri"/>
                <a:ea typeface="Calibri"/>
                <a:cs typeface="Calibri"/>
                <a:sym typeface="Calibri"/>
              </a:rPr>
              <a:t>Scale the subscription MVP, produce more wheelchairs, and onboard vets and specialists</a:t>
            </a:r>
            <a:endParaRPr b="0" i="0" sz="1800" u="none" cap="none" strike="noStrike">
              <a:solidFill>
                <a:schemeClr val="dk1"/>
              </a:solidFill>
              <a:latin typeface="Calibri"/>
              <a:ea typeface="Calibri"/>
              <a:cs typeface="Calibri"/>
              <a:sym typeface="Calibri"/>
            </a:endParaRPr>
          </a:p>
        </p:txBody>
      </p:sp>
      <p:sp>
        <p:nvSpPr>
          <p:cNvPr id="365" name="Google Shape;365;p16"/>
          <p:cNvSpPr txBox="1"/>
          <p:nvPr>
            <p:ph idx="4294967295" type="sldNum"/>
          </p:nvPr>
        </p:nvSpPr>
        <p:spPr>
          <a:xfrm>
            <a:off x="1097280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17"/>
          <p:cNvSpPr txBox="1"/>
          <p:nvPr>
            <p:ph type="title"/>
          </p:nvPr>
        </p:nvSpPr>
        <p:spPr>
          <a:xfrm>
            <a:off x="548640" y="384048"/>
            <a:ext cx="950976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A $3.6 billion market, and about ₹36 crore of annual run-rate within reach</a:t>
            </a:r>
            <a:endParaRPr sz="3000"/>
          </a:p>
        </p:txBody>
      </p:sp>
      <p:sp>
        <p:nvSpPr>
          <p:cNvPr id="372" name="Google Shape;372;p17"/>
          <p:cNvSpPr/>
          <p:nvPr/>
        </p:nvSpPr>
        <p:spPr>
          <a:xfrm>
            <a:off x="548640" y="1737360"/>
            <a:ext cx="4389120" cy="4389120"/>
          </a:xfrm>
          <a:prstGeom prst="ellipse">
            <a:avLst/>
          </a:prstGeom>
          <a:solidFill>
            <a:schemeClr val="lt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7"/>
          <p:cNvSpPr/>
          <p:nvPr/>
        </p:nvSpPr>
        <p:spPr>
          <a:xfrm>
            <a:off x="1280160" y="3200400"/>
            <a:ext cx="2926080" cy="292608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7"/>
          <p:cNvSpPr/>
          <p:nvPr/>
        </p:nvSpPr>
        <p:spPr>
          <a:xfrm>
            <a:off x="2011680" y="4663440"/>
            <a:ext cx="1463040" cy="146304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7"/>
          <p:cNvSpPr txBox="1"/>
          <p:nvPr/>
        </p:nvSpPr>
        <p:spPr>
          <a:xfrm>
            <a:off x="548640" y="2103120"/>
            <a:ext cx="438912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2200"/>
              <a:buFont typeface="Arial"/>
              <a:buNone/>
            </a:pPr>
            <a:r>
              <a:rPr b="1" i="0" lang="en-US" sz="2200" u="none" cap="none" strike="noStrike">
                <a:solidFill>
                  <a:schemeClr val="dk2"/>
                </a:solidFill>
                <a:latin typeface="Arial"/>
                <a:ea typeface="Arial"/>
                <a:cs typeface="Arial"/>
                <a:sym typeface="Arial"/>
              </a:rPr>
              <a:t>TAM  $3.6B</a:t>
            </a:r>
            <a:endParaRPr b="0" i="0" sz="2200" u="none" cap="none" strike="noStrike">
              <a:solidFill>
                <a:schemeClr val="dk1"/>
              </a:solidFill>
              <a:latin typeface="Calibri"/>
              <a:ea typeface="Calibri"/>
              <a:cs typeface="Calibri"/>
              <a:sym typeface="Calibri"/>
            </a:endParaRPr>
          </a:p>
        </p:txBody>
      </p:sp>
      <p:sp>
        <p:nvSpPr>
          <p:cNvPr id="376" name="Google Shape;376;p17"/>
          <p:cNvSpPr txBox="1"/>
          <p:nvPr/>
        </p:nvSpPr>
        <p:spPr>
          <a:xfrm>
            <a:off x="1280160" y="3520440"/>
            <a:ext cx="292608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SAM  $25M</a:t>
            </a:r>
            <a:endParaRPr b="0" i="0" sz="2200" u="none" cap="none" strike="noStrike">
              <a:solidFill>
                <a:schemeClr val="dk1"/>
              </a:solidFill>
              <a:latin typeface="Calibri"/>
              <a:ea typeface="Calibri"/>
              <a:cs typeface="Calibri"/>
              <a:sym typeface="Calibri"/>
            </a:endParaRPr>
          </a:p>
        </p:txBody>
      </p:sp>
      <p:sp>
        <p:nvSpPr>
          <p:cNvPr id="377" name="Google Shape;377;p17"/>
          <p:cNvSpPr txBox="1"/>
          <p:nvPr/>
        </p:nvSpPr>
        <p:spPr>
          <a:xfrm>
            <a:off x="2011680" y="4663440"/>
            <a:ext cx="1463040" cy="1463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200"/>
              <a:buFont typeface="Arial"/>
              <a:buNone/>
            </a:pPr>
            <a:r>
              <a:rPr b="1" i="0" lang="en-US" sz="2200" u="none" cap="none" strike="noStrike">
                <a:solidFill>
                  <a:schemeClr val="lt1"/>
                </a:solidFill>
                <a:latin typeface="Arial"/>
                <a:ea typeface="Arial"/>
                <a:cs typeface="Arial"/>
                <a:sym typeface="Arial"/>
              </a:rPr>
              <a:t>SOM</a:t>
            </a:r>
            <a:endParaRPr b="0" i="0" sz="2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2200"/>
              <a:buFont typeface="Arial"/>
              <a:buNone/>
            </a:pPr>
            <a:r>
              <a:rPr b="1" i="0" lang="en-US" sz="1600" u="none" cap="none" strike="noStrike">
                <a:solidFill>
                  <a:schemeClr val="lt1"/>
                </a:solidFill>
                <a:latin typeface="Arial"/>
                <a:ea typeface="Arial"/>
                <a:cs typeface="Arial"/>
                <a:sym typeface="Arial"/>
              </a:rPr>
              <a:t>$3.8M</a:t>
            </a:r>
            <a:endParaRPr b="0" i="0" sz="1600" u="none" cap="none" strike="noStrike">
              <a:solidFill>
                <a:schemeClr val="dk1"/>
              </a:solidFill>
              <a:latin typeface="Calibri"/>
              <a:ea typeface="Calibri"/>
              <a:cs typeface="Calibri"/>
              <a:sym typeface="Calibri"/>
            </a:endParaRPr>
          </a:p>
        </p:txBody>
      </p:sp>
      <p:sp>
        <p:nvSpPr>
          <p:cNvPr id="378" name="Google Shape;378;p17"/>
          <p:cNvSpPr/>
          <p:nvPr/>
        </p:nvSpPr>
        <p:spPr>
          <a:xfrm>
            <a:off x="5440680" y="1783080"/>
            <a:ext cx="6199632" cy="1325880"/>
          </a:xfrm>
          <a:prstGeom prst="roundRect">
            <a:avLst>
              <a:gd fmla="val 827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7"/>
          <p:cNvSpPr/>
          <p:nvPr/>
        </p:nvSpPr>
        <p:spPr>
          <a:xfrm>
            <a:off x="5623560" y="1965960"/>
            <a:ext cx="777240" cy="365760"/>
          </a:xfrm>
          <a:prstGeom prst="roundRect">
            <a:avLst>
              <a:gd fmla="val 3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7"/>
          <p:cNvSpPr txBox="1"/>
          <p:nvPr/>
        </p:nvSpPr>
        <p:spPr>
          <a:xfrm>
            <a:off x="5623560" y="1965960"/>
            <a:ext cx="777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TAM</a:t>
            </a:r>
            <a:endParaRPr b="0" i="0" sz="1400" u="none" cap="none" strike="noStrike">
              <a:solidFill>
                <a:schemeClr val="dk1"/>
              </a:solidFill>
              <a:latin typeface="Calibri"/>
              <a:ea typeface="Calibri"/>
              <a:cs typeface="Calibri"/>
              <a:sym typeface="Calibri"/>
            </a:endParaRPr>
          </a:p>
        </p:txBody>
      </p:sp>
      <p:sp>
        <p:nvSpPr>
          <p:cNvPr id="381" name="Google Shape;381;p17"/>
          <p:cNvSpPr txBox="1"/>
          <p:nvPr/>
        </p:nvSpPr>
        <p:spPr>
          <a:xfrm>
            <a:off x="6583680" y="1911096"/>
            <a:ext cx="4892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India’s total pet-care opportunity: $3.6 billion</a:t>
            </a:r>
            <a:endParaRPr b="0" i="0" sz="1400" u="none" cap="none" strike="noStrike">
              <a:solidFill>
                <a:schemeClr val="dk1"/>
              </a:solidFill>
              <a:latin typeface="Calibri"/>
              <a:ea typeface="Calibri"/>
              <a:cs typeface="Calibri"/>
              <a:sym typeface="Calibri"/>
            </a:endParaRPr>
          </a:p>
        </p:txBody>
      </p:sp>
      <p:sp>
        <p:nvSpPr>
          <p:cNvPr id="382" name="Google Shape;382;p17"/>
          <p:cNvSpPr txBox="1"/>
          <p:nvPr/>
        </p:nvSpPr>
        <p:spPr>
          <a:xfrm>
            <a:off x="6583680" y="2404872"/>
            <a:ext cx="4892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40M pets (74% dogs). Market $841M, 23% CAGR</a:t>
            </a:r>
            <a:endParaRPr b="0" i="0" sz="1300" u="none" cap="none" strike="noStrike">
              <a:solidFill>
                <a:schemeClr val="dk1"/>
              </a:solidFill>
              <a:latin typeface="Calibri"/>
              <a:ea typeface="Calibri"/>
              <a:cs typeface="Calibri"/>
              <a:sym typeface="Calibri"/>
            </a:endParaRPr>
          </a:p>
        </p:txBody>
      </p:sp>
      <p:sp>
        <p:nvSpPr>
          <p:cNvPr id="383" name="Google Shape;383;p17"/>
          <p:cNvSpPr txBox="1"/>
          <p:nvPr/>
        </p:nvSpPr>
        <p:spPr>
          <a:xfrm>
            <a:off x="6583680" y="2734056"/>
            <a:ext cx="48920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300" u="none" cap="none" strike="noStrike">
                <a:solidFill>
                  <a:schemeClr val="accent6"/>
                </a:solidFill>
                <a:latin typeface="Calibri"/>
                <a:ea typeface="Calibri"/>
                <a:cs typeface="Calibri"/>
                <a:sym typeface="Calibri"/>
              </a:rPr>
              <a:t>Arthritis sets in at 3.5–4 years of age</a:t>
            </a:r>
            <a:endParaRPr b="0" i="0" sz="1500" u="none" cap="none" strike="noStrike">
              <a:solidFill>
                <a:schemeClr val="dk1"/>
              </a:solidFill>
              <a:latin typeface="Calibri"/>
              <a:ea typeface="Calibri"/>
              <a:cs typeface="Calibri"/>
              <a:sym typeface="Calibri"/>
            </a:endParaRPr>
          </a:p>
        </p:txBody>
      </p:sp>
      <p:sp>
        <p:nvSpPr>
          <p:cNvPr id="384" name="Google Shape;384;p17"/>
          <p:cNvSpPr/>
          <p:nvPr/>
        </p:nvSpPr>
        <p:spPr>
          <a:xfrm>
            <a:off x="5440680" y="3291840"/>
            <a:ext cx="6199632" cy="1325880"/>
          </a:xfrm>
          <a:prstGeom prst="roundRect">
            <a:avLst>
              <a:gd fmla="val 827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7"/>
          <p:cNvSpPr/>
          <p:nvPr/>
        </p:nvSpPr>
        <p:spPr>
          <a:xfrm>
            <a:off x="5623560" y="3474720"/>
            <a:ext cx="777240" cy="365760"/>
          </a:xfrm>
          <a:prstGeom prst="roundRect">
            <a:avLst>
              <a:gd fmla="val 30000"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7"/>
          <p:cNvSpPr txBox="1"/>
          <p:nvPr/>
        </p:nvSpPr>
        <p:spPr>
          <a:xfrm>
            <a:off x="5623560" y="3474720"/>
            <a:ext cx="777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SAM</a:t>
            </a:r>
            <a:endParaRPr b="0" i="0" sz="1400" u="none" cap="none" strike="noStrike">
              <a:solidFill>
                <a:schemeClr val="dk1"/>
              </a:solidFill>
              <a:latin typeface="Calibri"/>
              <a:ea typeface="Calibri"/>
              <a:cs typeface="Calibri"/>
              <a:sym typeface="Calibri"/>
            </a:endParaRPr>
          </a:p>
        </p:txBody>
      </p:sp>
      <p:sp>
        <p:nvSpPr>
          <p:cNvPr id="387" name="Google Shape;387;p17"/>
          <p:cNvSpPr txBox="1"/>
          <p:nvPr/>
        </p:nvSpPr>
        <p:spPr>
          <a:xfrm>
            <a:off x="6583680" y="3419856"/>
            <a:ext cx="4892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Serviceable market: about $25 million a year</a:t>
            </a:r>
            <a:endParaRPr b="0" i="0" sz="1400" u="none" cap="none" strike="noStrike">
              <a:solidFill>
                <a:schemeClr val="dk1"/>
              </a:solidFill>
              <a:latin typeface="Calibri"/>
              <a:ea typeface="Calibri"/>
              <a:cs typeface="Calibri"/>
              <a:sym typeface="Calibri"/>
            </a:endParaRPr>
          </a:p>
        </p:txBody>
      </p:sp>
      <p:sp>
        <p:nvSpPr>
          <p:cNvPr id="388" name="Google Shape;388;p17"/>
          <p:cNvSpPr txBox="1"/>
          <p:nvPr/>
        </p:nvSpPr>
        <p:spPr>
          <a:xfrm>
            <a:off x="6583680" y="3913632"/>
            <a:ext cx="4892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40,000 dogs × ₹4,999 × 12 months ≈ ₹240 crore</a:t>
            </a:r>
            <a:endParaRPr b="0" i="0" sz="1300" u="none" cap="none" strike="noStrike">
              <a:solidFill>
                <a:schemeClr val="dk1"/>
              </a:solidFill>
              <a:latin typeface="Calibri"/>
              <a:ea typeface="Calibri"/>
              <a:cs typeface="Calibri"/>
              <a:sym typeface="Calibri"/>
            </a:endParaRPr>
          </a:p>
        </p:txBody>
      </p:sp>
      <p:sp>
        <p:nvSpPr>
          <p:cNvPr id="389" name="Google Shape;389;p17"/>
          <p:cNvSpPr txBox="1"/>
          <p:nvPr/>
        </p:nvSpPr>
        <p:spPr>
          <a:xfrm>
            <a:off x="6583680" y="4242816"/>
            <a:ext cx="48920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300" u="none" cap="none" strike="noStrike">
                <a:solidFill>
                  <a:schemeClr val="accent6"/>
                </a:solidFill>
                <a:latin typeface="Calibri"/>
                <a:ea typeface="Calibri"/>
                <a:cs typeface="Calibri"/>
                <a:sym typeface="Calibri"/>
              </a:rPr>
              <a:t>1 in 5 dogs show radiographic joint disease or osteoarthritis</a:t>
            </a:r>
            <a:endParaRPr b="0" i="0" sz="1500" u="none" cap="none" strike="noStrike">
              <a:solidFill>
                <a:schemeClr val="dk1"/>
              </a:solidFill>
              <a:latin typeface="Calibri"/>
              <a:ea typeface="Calibri"/>
              <a:cs typeface="Calibri"/>
              <a:sym typeface="Calibri"/>
            </a:endParaRPr>
          </a:p>
        </p:txBody>
      </p:sp>
      <p:sp>
        <p:nvSpPr>
          <p:cNvPr id="390" name="Google Shape;390;p17"/>
          <p:cNvSpPr/>
          <p:nvPr/>
        </p:nvSpPr>
        <p:spPr>
          <a:xfrm>
            <a:off x="5440680" y="4800600"/>
            <a:ext cx="6199632" cy="1325880"/>
          </a:xfrm>
          <a:prstGeom prst="roundRect">
            <a:avLst>
              <a:gd fmla="val 8276"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7"/>
          <p:cNvSpPr/>
          <p:nvPr/>
        </p:nvSpPr>
        <p:spPr>
          <a:xfrm>
            <a:off x="5623560" y="4983480"/>
            <a:ext cx="777240" cy="365760"/>
          </a:xfrm>
          <a:prstGeom prst="roundRect">
            <a:avLst>
              <a:gd fmla="val 3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7"/>
          <p:cNvSpPr txBox="1"/>
          <p:nvPr/>
        </p:nvSpPr>
        <p:spPr>
          <a:xfrm>
            <a:off x="5623560" y="4983480"/>
            <a:ext cx="777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SOM</a:t>
            </a:r>
            <a:endParaRPr b="0" i="0" sz="1400" u="none" cap="none" strike="noStrike">
              <a:solidFill>
                <a:schemeClr val="dk1"/>
              </a:solidFill>
              <a:latin typeface="Calibri"/>
              <a:ea typeface="Calibri"/>
              <a:cs typeface="Calibri"/>
              <a:sym typeface="Calibri"/>
            </a:endParaRPr>
          </a:p>
        </p:txBody>
      </p:sp>
      <p:sp>
        <p:nvSpPr>
          <p:cNvPr id="393" name="Google Shape;393;p17"/>
          <p:cNvSpPr txBox="1"/>
          <p:nvPr/>
        </p:nvSpPr>
        <p:spPr>
          <a:xfrm>
            <a:off x="6583680" y="4928616"/>
            <a:ext cx="48920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Year 1 target: 6,000 subscribers</a:t>
            </a:r>
            <a:endParaRPr b="0" i="0" sz="1400" u="none" cap="none" strike="noStrike">
              <a:solidFill>
                <a:schemeClr val="dk1"/>
              </a:solidFill>
              <a:latin typeface="Calibri"/>
              <a:ea typeface="Calibri"/>
              <a:cs typeface="Calibri"/>
              <a:sym typeface="Calibri"/>
            </a:endParaRPr>
          </a:p>
        </p:txBody>
      </p:sp>
      <p:sp>
        <p:nvSpPr>
          <p:cNvPr id="394" name="Google Shape;394;p17"/>
          <p:cNvSpPr txBox="1"/>
          <p:nvPr/>
        </p:nvSpPr>
        <p:spPr>
          <a:xfrm>
            <a:off x="6583680" y="5422392"/>
            <a:ext cx="4892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6,000 × ₹4,999 × 12 months ≈ $3.8 million</a:t>
            </a:r>
            <a:endParaRPr b="0" i="0" sz="1300" u="none" cap="none" strike="noStrike">
              <a:solidFill>
                <a:schemeClr val="dk1"/>
              </a:solidFill>
              <a:latin typeface="Calibri"/>
              <a:ea typeface="Calibri"/>
              <a:cs typeface="Calibri"/>
              <a:sym typeface="Calibri"/>
            </a:endParaRPr>
          </a:p>
        </p:txBody>
      </p:sp>
      <p:sp>
        <p:nvSpPr>
          <p:cNvPr id="395" name="Google Shape;395;p17"/>
          <p:cNvSpPr txBox="1"/>
          <p:nvPr/>
        </p:nvSpPr>
        <p:spPr>
          <a:xfrm>
            <a:off x="6583680" y="5751576"/>
            <a:ext cx="48920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500"/>
              <a:buFont typeface="Calibri"/>
              <a:buNone/>
            </a:pPr>
            <a:r>
              <a:rPr b="1" i="0" lang="en-US" sz="1500" u="none" cap="none" strike="noStrike">
                <a:solidFill>
                  <a:schemeClr val="accent1"/>
                </a:solidFill>
                <a:latin typeface="Calibri"/>
                <a:ea typeface="Calibri"/>
                <a:cs typeface="Calibri"/>
                <a:sym typeface="Calibri"/>
              </a:rPr>
              <a:t>≈ ₹36 crore annual run-rate</a:t>
            </a:r>
            <a:endParaRPr b="0" i="0" sz="1500" u="none" cap="none" strike="noStrike">
              <a:solidFill>
                <a:schemeClr val="dk1"/>
              </a:solidFill>
              <a:latin typeface="Calibri"/>
              <a:ea typeface="Calibri"/>
              <a:cs typeface="Calibri"/>
              <a:sym typeface="Calibri"/>
            </a:endParaRPr>
          </a:p>
        </p:txBody>
      </p:sp>
      <p:sp>
        <p:nvSpPr>
          <p:cNvPr id="396" name="Google Shape;396;p17"/>
          <p:cNvSpPr txBox="1"/>
          <p:nvPr>
            <p:ph idx="4294967295" type="sldNum"/>
          </p:nvPr>
        </p:nvSpPr>
        <p:spPr>
          <a:xfrm>
            <a:off x="1097280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18"/>
          <p:cNvSpPr txBox="1"/>
          <p:nvPr>
            <p:ph type="title"/>
          </p:nvPr>
        </p:nvSpPr>
        <p:spPr>
          <a:xfrm>
            <a:off x="548640" y="384048"/>
            <a:ext cx="950976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Expect about 8 scaled pet-care competitors in India by 2030, within a range of 6 to 14</a:t>
            </a:r>
            <a:endParaRPr sz="3000"/>
          </a:p>
        </p:txBody>
      </p:sp>
      <p:pic>
        <p:nvPicPr>
          <p:cNvPr id="403" name="Google Shape;403;p18"/>
          <p:cNvPicPr preferRelativeResize="0"/>
          <p:nvPr/>
        </p:nvPicPr>
        <p:blipFill rotWithShape="1">
          <a:blip r:embed="rId3">
            <a:alphaModFix/>
          </a:blip>
          <a:srcRect b="0" l="0" r="0" t="0"/>
          <a:stretch/>
        </p:blipFill>
        <p:spPr>
          <a:xfrm>
            <a:off x="548640" y="1691640"/>
            <a:ext cx="5852160" cy="4069080"/>
          </a:xfrm>
          <a:prstGeom prst="rect">
            <a:avLst/>
          </a:prstGeom>
          <a:noFill/>
          <a:ln>
            <a:noFill/>
          </a:ln>
        </p:spPr>
      </p:pic>
      <p:sp>
        <p:nvSpPr>
          <p:cNvPr id="404" name="Google Shape;404;p18"/>
          <p:cNvSpPr txBox="1"/>
          <p:nvPr/>
        </p:nvSpPr>
        <p:spPr>
          <a:xfrm>
            <a:off x="548640" y="5852160"/>
            <a:ext cx="58521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100"/>
              <a:buFont typeface="Calibri"/>
              <a:buNone/>
            </a:pPr>
            <a:r>
              <a:rPr b="0" i="0" lang="en-US" sz="1100" u="none" cap="none" strike="noStrike">
                <a:solidFill>
                  <a:schemeClr val="accent6"/>
                </a:solidFill>
                <a:latin typeface="Calibri"/>
                <a:ea typeface="Calibri"/>
                <a:cs typeface="Calibri"/>
                <a:sym typeface="Calibri"/>
              </a:rPr>
              <a:t>Estimate, not a published figure. Today's 3: Supertails, Vetic, Heads Up For Tails. Sources: Inc42 (500+ startups), Entrackr, Entrepreneur India citing Tracxn, Gort and Konakayama (NBER, 1978).</a:t>
            </a:r>
            <a:endParaRPr b="0" i="0" sz="1100" u="none" cap="none" strike="noStrike">
              <a:solidFill>
                <a:schemeClr val="dk1"/>
              </a:solidFill>
              <a:latin typeface="Calibri"/>
              <a:ea typeface="Calibri"/>
              <a:cs typeface="Calibri"/>
              <a:sym typeface="Calibri"/>
            </a:endParaRPr>
          </a:p>
        </p:txBody>
      </p:sp>
      <p:sp>
        <p:nvSpPr>
          <p:cNvPr id="405" name="Google Shape;405;p18"/>
          <p:cNvSpPr/>
          <p:nvPr/>
        </p:nvSpPr>
        <p:spPr>
          <a:xfrm>
            <a:off x="6675120" y="1783080"/>
            <a:ext cx="4965192" cy="1280160"/>
          </a:xfrm>
          <a:prstGeom prst="roundRect">
            <a:avLst>
              <a:gd fmla="val 857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8"/>
          <p:cNvSpPr/>
          <p:nvPr/>
        </p:nvSpPr>
        <p:spPr>
          <a:xfrm>
            <a:off x="6903720" y="2075688"/>
            <a:ext cx="685800" cy="685800"/>
          </a:xfrm>
          <a:prstGeom prst="ellipse">
            <a:avLst/>
          </a:prstGeom>
          <a:solidFill>
            <a:srgbClr val="2F2A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rtLine icon" id="407" name="Google Shape;407;p18"/>
          <p:cNvPicPr preferRelativeResize="0"/>
          <p:nvPr/>
        </p:nvPicPr>
        <p:blipFill rotWithShape="1">
          <a:blip r:embed="rId4">
            <a:alphaModFix/>
          </a:blip>
          <a:srcRect b="0" l="0" r="0" t="0"/>
          <a:stretch/>
        </p:blipFill>
        <p:spPr>
          <a:xfrm>
            <a:off x="7075170" y="2247138"/>
            <a:ext cx="342900" cy="342900"/>
          </a:xfrm>
          <a:prstGeom prst="rect">
            <a:avLst/>
          </a:prstGeom>
          <a:noFill/>
          <a:ln>
            <a:noFill/>
          </a:ln>
        </p:spPr>
      </p:pic>
      <p:sp>
        <p:nvSpPr>
          <p:cNvPr id="408" name="Google Shape;408;p18"/>
          <p:cNvSpPr txBox="1"/>
          <p:nvPr/>
        </p:nvSpPr>
        <p:spPr>
          <a:xfrm>
            <a:off x="7863840" y="1892808"/>
            <a:ext cx="3657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Why entry will rise</a:t>
            </a:r>
            <a:endParaRPr b="0" i="0" sz="1800" u="none" cap="none" strike="noStrike">
              <a:solidFill>
                <a:schemeClr val="dk1"/>
              </a:solidFill>
              <a:latin typeface="Calibri"/>
              <a:ea typeface="Calibri"/>
              <a:cs typeface="Calibri"/>
              <a:sym typeface="Calibri"/>
            </a:endParaRPr>
          </a:p>
        </p:txBody>
      </p:sp>
      <p:sp>
        <p:nvSpPr>
          <p:cNvPr id="409" name="Google Shape;409;p18"/>
          <p:cNvSpPr txBox="1"/>
          <p:nvPr/>
        </p:nvSpPr>
        <p:spPr>
          <a:xfrm>
            <a:off x="7863840" y="2258568"/>
            <a:ext cx="36576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New firms enter faster as more firms prove the market (Gort and Konakayama, 1978). Market forecasts run 9% to 20% a year.</a:t>
            </a:r>
            <a:endParaRPr b="0" i="0" sz="1400" u="none" cap="none" strike="noStrike">
              <a:solidFill>
                <a:schemeClr val="dk1"/>
              </a:solidFill>
              <a:latin typeface="Calibri"/>
              <a:ea typeface="Calibri"/>
              <a:cs typeface="Calibri"/>
              <a:sym typeface="Calibri"/>
            </a:endParaRPr>
          </a:p>
        </p:txBody>
      </p:sp>
      <p:sp>
        <p:nvSpPr>
          <p:cNvPr id="410" name="Google Shape;410;p18"/>
          <p:cNvSpPr/>
          <p:nvPr/>
        </p:nvSpPr>
        <p:spPr>
          <a:xfrm>
            <a:off x="6675120" y="3246120"/>
            <a:ext cx="4965192" cy="1280160"/>
          </a:xfrm>
          <a:prstGeom prst="roundRect">
            <a:avLst>
              <a:gd fmla="val 857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8"/>
          <p:cNvSpPr/>
          <p:nvPr/>
        </p:nvSpPr>
        <p:spPr>
          <a:xfrm>
            <a:off x="6903720" y="3538728"/>
            <a:ext cx="685800" cy="685800"/>
          </a:xfrm>
          <a:prstGeom prst="ellipse">
            <a:avLst/>
          </a:prstGeom>
          <a:solidFill>
            <a:srgbClr val="2F2A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 icon" id="412" name="Google Shape;412;p18"/>
          <p:cNvPicPr preferRelativeResize="0"/>
          <p:nvPr/>
        </p:nvPicPr>
        <p:blipFill rotWithShape="1">
          <a:blip r:embed="rId5">
            <a:alphaModFix/>
          </a:blip>
          <a:srcRect b="0" l="0" r="0" t="0"/>
          <a:stretch/>
        </p:blipFill>
        <p:spPr>
          <a:xfrm>
            <a:off x="7075170" y="3710178"/>
            <a:ext cx="342900" cy="342900"/>
          </a:xfrm>
          <a:prstGeom prst="rect">
            <a:avLst/>
          </a:prstGeom>
          <a:noFill/>
          <a:ln>
            <a:noFill/>
          </a:ln>
        </p:spPr>
      </p:pic>
      <p:sp>
        <p:nvSpPr>
          <p:cNvPr id="413" name="Google Shape;413;p18"/>
          <p:cNvSpPr txBox="1"/>
          <p:nvPr/>
        </p:nvSpPr>
        <p:spPr>
          <a:xfrm>
            <a:off x="7863840" y="3355848"/>
            <a:ext cx="3657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Who is already here</a:t>
            </a:r>
            <a:endParaRPr b="0" i="0" sz="1800" u="none" cap="none" strike="noStrike">
              <a:solidFill>
                <a:schemeClr val="dk1"/>
              </a:solidFill>
              <a:latin typeface="Calibri"/>
              <a:ea typeface="Calibri"/>
              <a:cs typeface="Calibri"/>
              <a:sym typeface="Calibri"/>
            </a:endParaRPr>
          </a:p>
        </p:txBody>
      </p:sp>
      <p:sp>
        <p:nvSpPr>
          <p:cNvPr id="414" name="Google Shape;414;p18"/>
          <p:cNvSpPr txBox="1"/>
          <p:nvPr/>
        </p:nvSpPr>
        <p:spPr>
          <a:xfrm>
            <a:off x="7863840" y="3721608"/>
            <a:ext cx="36576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Supertails, Vetic and Heads Up For Tails have each raised roughly $50M to $75M.</a:t>
            </a:r>
            <a:endParaRPr b="0" i="0" sz="1400" u="none" cap="none" strike="noStrike">
              <a:solidFill>
                <a:schemeClr val="dk1"/>
              </a:solidFill>
              <a:latin typeface="Calibri"/>
              <a:ea typeface="Calibri"/>
              <a:cs typeface="Calibri"/>
              <a:sym typeface="Calibri"/>
            </a:endParaRPr>
          </a:p>
        </p:txBody>
      </p:sp>
      <p:sp>
        <p:nvSpPr>
          <p:cNvPr id="415" name="Google Shape;415;p18"/>
          <p:cNvSpPr/>
          <p:nvPr/>
        </p:nvSpPr>
        <p:spPr>
          <a:xfrm>
            <a:off x="6675120" y="4709160"/>
            <a:ext cx="4965192" cy="1280160"/>
          </a:xfrm>
          <a:prstGeom prst="roundRect">
            <a:avLst>
              <a:gd fmla="val 8571"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8"/>
          <p:cNvSpPr/>
          <p:nvPr/>
        </p:nvSpPr>
        <p:spPr>
          <a:xfrm>
            <a:off x="6903720" y="5001768"/>
            <a:ext cx="685800" cy="685800"/>
          </a:xfrm>
          <a:prstGeom prst="ellipse">
            <a:avLst/>
          </a:prstGeom>
          <a:solidFill>
            <a:srgbClr val="F339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Bullseye icon" id="417" name="Google Shape;417;p18"/>
          <p:cNvPicPr preferRelativeResize="0"/>
          <p:nvPr/>
        </p:nvPicPr>
        <p:blipFill rotWithShape="1">
          <a:blip r:embed="rId6">
            <a:alphaModFix/>
          </a:blip>
          <a:srcRect b="0" l="0" r="0" t="0"/>
          <a:stretch/>
        </p:blipFill>
        <p:spPr>
          <a:xfrm>
            <a:off x="7075170" y="5173218"/>
            <a:ext cx="342900" cy="342900"/>
          </a:xfrm>
          <a:prstGeom prst="rect">
            <a:avLst/>
          </a:prstGeom>
          <a:noFill/>
          <a:ln>
            <a:noFill/>
          </a:ln>
        </p:spPr>
      </p:pic>
      <p:sp>
        <p:nvSpPr>
          <p:cNvPr id="418" name="Google Shape;418;p18"/>
          <p:cNvSpPr txBox="1"/>
          <p:nvPr/>
        </p:nvSpPr>
        <p:spPr>
          <a:xfrm>
            <a:off x="7863840" y="4818888"/>
            <a:ext cx="3657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Mobility is still open</a:t>
            </a:r>
            <a:endParaRPr b="0" i="0" sz="1800" u="none" cap="none" strike="noStrike">
              <a:solidFill>
                <a:schemeClr val="dk1"/>
              </a:solidFill>
              <a:latin typeface="Calibri"/>
              <a:ea typeface="Calibri"/>
              <a:cs typeface="Calibri"/>
              <a:sym typeface="Calibri"/>
            </a:endParaRPr>
          </a:p>
        </p:txBody>
      </p:sp>
      <p:sp>
        <p:nvSpPr>
          <p:cNvPr id="419" name="Google Shape;419;p18"/>
          <p:cNvSpPr txBox="1"/>
          <p:nvPr/>
        </p:nvSpPr>
        <p:spPr>
          <a:xfrm>
            <a:off x="7863840" y="5184648"/>
            <a:ext cx="36576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We found no dedicated mobility and rehab subscription. Expect about half of scaled players to add rehab by 2030.</a:t>
            </a:r>
            <a:endParaRPr b="0" i="0" sz="1400" u="none" cap="none" strike="noStrike">
              <a:solidFill>
                <a:schemeClr val="dk1"/>
              </a:solidFill>
              <a:latin typeface="Calibri"/>
              <a:ea typeface="Calibri"/>
              <a:cs typeface="Calibri"/>
              <a:sym typeface="Calibri"/>
            </a:endParaRPr>
          </a:p>
        </p:txBody>
      </p:sp>
      <p:sp>
        <p:nvSpPr>
          <p:cNvPr id="420" name="Google Shape;420;p18"/>
          <p:cNvSpPr txBox="1"/>
          <p:nvPr>
            <p:ph idx="4294967295" type="sldNum"/>
          </p:nvPr>
        </p:nvSpPr>
        <p:spPr>
          <a:xfrm>
            <a:off x="1097280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19"/>
          <p:cNvSpPr txBox="1"/>
          <p:nvPr>
            <p:ph type="title"/>
          </p:nvPr>
        </p:nvSpPr>
        <p:spPr>
          <a:xfrm>
            <a:off x="548640" y="384048"/>
            <a:ext cx="950976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3000"/>
              <a:buFont typeface="Arial"/>
              <a:buNone/>
            </a:pPr>
            <a:r>
              <a:rPr b="1" lang="en-US" sz="3000">
                <a:solidFill>
                  <a:schemeClr val="lt1"/>
                </a:solidFill>
              </a:rPr>
              <a:t>We are raising ₹10 crore to scale ResQ</a:t>
            </a:r>
            <a:endParaRPr sz="3000"/>
          </a:p>
        </p:txBody>
      </p:sp>
      <p:sp>
        <p:nvSpPr>
          <p:cNvPr id="427" name="Google Shape;427;p19"/>
          <p:cNvSpPr txBox="1"/>
          <p:nvPr/>
        </p:nvSpPr>
        <p:spPr>
          <a:xfrm>
            <a:off x="548640" y="1783080"/>
            <a:ext cx="420624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8000"/>
              <a:buFont typeface="Arial"/>
              <a:buNone/>
            </a:pPr>
            <a:r>
              <a:rPr b="1" i="0" lang="en-US" sz="8000" u="none" cap="none" strike="noStrike">
                <a:solidFill>
                  <a:schemeClr val="accent1"/>
                </a:solidFill>
                <a:latin typeface="Arial"/>
                <a:ea typeface="Arial"/>
                <a:cs typeface="Arial"/>
                <a:sym typeface="Arial"/>
              </a:rPr>
              <a:t>₹10 Cr</a:t>
            </a:r>
            <a:endParaRPr b="0" i="0" sz="8000" u="none" cap="none" strike="noStrike">
              <a:solidFill>
                <a:schemeClr val="dk1"/>
              </a:solidFill>
              <a:latin typeface="Calibri"/>
              <a:ea typeface="Calibri"/>
              <a:cs typeface="Calibri"/>
              <a:sym typeface="Calibri"/>
            </a:endParaRPr>
          </a:p>
        </p:txBody>
      </p:sp>
      <p:sp>
        <p:nvSpPr>
          <p:cNvPr id="428" name="Google Shape;428;p19"/>
          <p:cNvSpPr txBox="1"/>
          <p:nvPr/>
        </p:nvSpPr>
        <p:spPr>
          <a:xfrm>
            <a:off x="548640" y="3291840"/>
            <a:ext cx="393192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000"/>
              <a:buFont typeface="Calibri"/>
              <a:buNone/>
            </a:pPr>
            <a:r>
              <a:rPr b="0" i="0" lang="en-US" sz="2000" u="none" cap="none" strike="noStrike">
                <a:solidFill>
                  <a:schemeClr val="lt1"/>
                </a:solidFill>
                <a:latin typeface="Calibri"/>
                <a:ea typeface="Calibri"/>
                <a:cs typeface="Calibri"/>
                <a:sym typeface="Calibri"/>
              </a:rPr>
              <a:t>to scale the MVP, produce more wheelchairs and onboard vets and specialists</a:t>
            </a:r>
            <a:endParaRPr b="0" i="0" sz="2000" u="none" cap="none" strike="noStrike">
              <a:solidFill>
                <a:schemeClr val="dk1"/>
              </a:solidFill>
              <a:latin typeface="Calibri"/>
              <a:ea typeface="Calibri"/>
              <a:cs typeface="Calibri"/>
              <a:sym typeface="Calibri"/>
            </a:endParaRPr>
          </a:p>
        </p:txBody>
      </p:sp>
      <p:sp>
        <p:nvSpPr>
          <p:cNvPr id="429" name="Google Shape;429;p19"/>
          <p:cNvSpPr txBox="1"/>
          <p:nvPr/>
        </p:nvSpPr>
        <p:spPr>
          <a:xfrm>
            <a:off x="548640" y="5074920"/>
            <a:ext cx="42976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2400"/>
              <a:buFont typeface="Arial"/>
              <a:buNone/>
            </a:pPr>
            <a:r>
              <a:rPr b="1" i="0" lang="en-US" sz="2400" u="none" cap="none" strike="noStrike">
                <a:solidFill>
                  <a:schemeClr val="accent3"/>
                </a:solidFill>
                <a:latin typeface="Arial"/>
                <a:ea typeface="Arial"/>
                <a:cs typeface="Arial"/>
                <a:sym typeface="Arial"/>
              </a:rPr>
              <a:t>Rescue Every Soul Quickly.</a:t>
            </a:r>
            <a:endParaRPr b="0" i="0" sz="2400" u="none" cap="none" strike="noStrike">
              <a:solidFill>
                <a:schemeClr val="dk1"/>
              </a:solidFill>
              <a:latin typeface="Calibri"/>
              <a:ea typeface="Calibri"/>
              <a:cs typeface="Calibri"/>
              <a:sym typeface="Calibri"/>
            </a:endParaRPr>
          </a:p>
        </p:txBody>
      </p:sp>
      <p:sp>
        <p:nvSpPr>
          <p:cNvPr id="430" name="Google Shape;430;p19"/>
          <p:cNvSpPr txBox="1"/>
          <p:nvPr/>
        </p:nvSpPr>
        <p:spPr>
          <a:xfrm>
            <a:off x="548640" y="5577840"/>
            <a:ext cx="42976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1600"/>
              <a:buFont typeface="Calibri"/>
              <a:buNone/>
            </a:pPr>
            <a:r>
              <a:rPr b="0" i="0" lang="en-US" sz="1600" u="none" cap="none" strike="noStrike">
                <a:solidFill>
                  <a:schemeClr val="accent4"/>
                </a:solidFill>
                <a:latin typeface="Calibri"/>
                <a:ea typeface="Calibri"/>
                <a:cs typeface="Calibri"/>
                <a:sym typeface="Calibri"/>
              </a:rPr>
              <a:t>For Rani, and every soul like her.</a:t>
            </a:r>
            <a:endParaRPr b="0" i="0" sz="1600" u="none" cap="none" strike="noStrike">
              <a:solidFill>
                <a:schemeClr val="dk1"/>
              </a:solidFill>
              <a:latin typeface="Calibri"/>
              <a:ea typeface="Calibri"/>
              <a:cs typeface="Calibri"/>
              <a:sym typeface="Calibri"/>
            </a:endParaRPr>
          </a:p>
        </p:txBody>
      </p:sp>
      <p:sp>
        <p:nvSpPr>
          <p:cNvPr id="431" name="Google Shape;431;p19"/>
          <p:cNvSpPr txBox="1"/>
          <p:nvPr/>
        </p:nvSpPr>
        <p:spPr>
          <a:xfrm>
            <a:off x="5029200" y="1737360"/>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300"/>
              <a:buFont typeface="Calibri"/>
              <a:buNone/>
            </a:pPr>
            <a:r>
              <a:rPr b="1" i="0" lang="en-US" sz="1300" u="none" cap="none" strike="noStrike">
                <a:solidFill>
                  <a:schemeClr val="accent3"/>
                </a:solidFill>
                <a:latin typeface="Calibri"/>
                <a:ea typeface="Calibri"/>
                <a:cs typeface="Calibri"/>
                <a:sym typeface="Calibri"/>
              </a:rPr>
              <a:t>USE OF FUNDS</a:t>
            </a:r>
            <a:endParaRPr b="0" i="0" sz="1300" u="none" cap="none" strike="noStrike">
              <a:solidFill>
                <a:schemeClr val="dk1"/>
              </a:solidFill>
              <a:latin typeface="Calibri"/>
              <a:ea typeface="Calibri"/>
              <a:cs typeface="Calibri"/>
              <a:sym typeface="Calibri"/>
            </a:endParaRPr>
          </a:p>
        </p:txBody>
      </p:sp>
      <p:sp>
        <p:nvSpPr>
          <p:cNvPr id="432" name="Google Shape;432;p19"/>
          <p:cNvSpPr/>
          <p:nvPr/>
        </p:nvSpPr>
        <p:spPr>
          <a:xfrm>
            <a:off x="5029200" y="2148840"/>
            <a:ext cx="3200400" cy="1234440"/>
          </a:xfrm>
          <a:prstGeom prst="roundRect">
            <a:avLst>
              <a:gd fmla="val 8889"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9"/>
          <p:cNvSpPr/>
          <p:nvPr/>
        </p:nvSpPr>
        <p:spPr>
          <a:xfrm>
            <a:off x="5230368" y="2496312"/>
            <a:ext cx="548640" cy="548640"/>
          </a:xfrm>
          <a:prstGeom prst="ellipse">
            <a:avLst/>
          </a:prstGeom>
          <a:solidFill>
            <a:srgbClr val="F339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heelchair icon" id="434" name="Google Shape;434;p19"/>
          <p:cNvPicPr preferRelativeResize="0"/>
          <p:nvPr/>
        </p:nvPicPr>
        <p:blipFill rotWithShape="1">
          <a:blip r:embed="rId3">
            <a:alphaModFix/>
          </a:blip>
          <a:srcRect b="0" l="0" r="0" t="0"/>
          <a:stretch/>
        </p:blipFill>
        <p:spPr>
          <a:xfrm>
            <a:off x="5367528" y="2633472"/>
            <a:ext cx="274320" cy="274320"/>
          </a:xfrm>
          <a:prstGeom prst="rect">
            <a:avLst/>
          </a:prstGeom>
          <a:noFill/>
          <a:ln>
            <a:noFill/>
          </a:ln>
        </p:spPr>
      </p:pic>
      <p:sp>
        <p:nvSpPr>
          <p:cNvPr id="435" name="Google Shape;435;p19"/>
          <p:cNvSpPr txBox="1"/>
          <p:nvPr/>
        </p:nvSpPr>
        <p:spPr>
          <a:xfrm>
            <a:off x="5943600" y="2240280"/>
            <a:ext cx="214884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1" i="0" lang="en-US" sz="1500" u="none" cap="none" strike="noStrike">
                <a:solidFill>
                  <a:schemeClr val="lt1"/>
                </a:solidFill>
                <a:latin typeface="Calibri"/>
                <a:ea typeface="Calibri"/>
                <a:cs typeface="Calibri"/>
                <a:sym typeface="Calibri"/>
              </a:rPr>
              <a:t>Product and manufacturing</a:t>
            </a:r>
            <a:endParaRPr b="0" i="0" sz="15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chemeClr val="lt2"/>
              </a:buClr>
              <a:buSzPts val="1300"/>
              <a:buFont typeface="Calibri"/>
              <a:buNone/>
            </a:pPr>
            <a:r>
              <a:rPr b="0" i="0" lang="en-US" sz="1300" u="none" cap="none" strike="noStrike">
                <a:solidFill>
                  <a:schemeClr val="lt2"/>
                </a:solidFill>
                <a:latin typeface="Calibri"/>
                <a:ea typeface="Calibri"/>
                <a:cs typeface="Calibri"/>
                <a:sym typeface="Calibri"/>
              </a:rPr>
              <a:t>Wheelchair production and patents</a:t>
            </a:r>
            <a:endParaRPr b="0" i="0" sz="1500" u="none" cap="none" strike="noStrike">
              <a:solidFill>
                <a:schemeClr val="dk1"/>
              </a:solidFill>
              <a:latin typeface="Calibri"/>
              <a:ea typeface="Calibri"/>
              <a:cs typeface="Calibri"/>
              <a:sym typeface="Calibri"/>
            </a:endParaRPr>
          </a:p>
        </p:txBody>
      </p:sp>
      <p:sp>
        <p:nvSpPr>
          <p:cNvPr id="436" name="Google Shape;436;p19"/>
          <p:cNvSpPr/>
          <p:nvPr/>
        </p:nvSpPr>
        <p:spPr>
          <a:xfrm>
            <a:off x="8385048" y="2148840"/>
            <a:ext cx="3200400" cy="1234440"/>
          </a:xfrm>
          <a:prstGeom prst="roundRect">
            <a:avLst>
              <a:gd fmla="val 8889"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9"/>
          <p:cNvSpPr/>
          <p:nvPr/>
        </p:nvSpPr>
        <p:spPr>
          <a:xfrm>
            <a:off x="8586216" y="2496312"/>
            <a:ext cx="548640" cy="548640"/>
          </a:xfrm>
          <a:prstGeom prst="ellipse">
            <a:avLst/>
          </a:prstGeom>
          <a:solidFill>
            <a:srgbClr val="F339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obileAlt icon" id="438" name="Google Shape;438;p19"/>
          <p:cNvPicPr preferRelativeResize="0"/>
          <p:nvPr/>
        </p:nvPicPr>
        <p:blipFill rotWithShape="1">
          <a:blip r:embed="rId4">
            <a:alphaModFix/>
          </a:blip>
          <a:srcRect b="0" l="0" r="0" t="0"/>
          <a:stretch/>
        </p:blipFill>
        <p:spPr>
          <a:xfrm>
            <a:off x="8723376" y="2633472"/>
            <a:ext cx="274320" cy="274320"/>
          </a:xfrm>
          <a:prstGeom prst="rect">
            <a:avLst/>
          </a:prstGeom>
          <a:noFill/>
          <a:ln>
            <a:noFill/>
          </a:ln>
        </p:spPr>
      </p:pic>
      <p:sp>
        <p:nvSpPr>
          <p:cNvPr id="439" name="Google Shape;439;p19"/>
          <p:cNvSpPr txBox="1"/>
          <p:nvPr/>
        </p:nvSpPr>
        <p:spPr>
          <a:xfrm>
            <a:off x="9299448" y="2240280"/>
            <a:ext cx="214884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1" i="0" lang="en-US" sz="1500" u="none" cap="none" strike="noStrike">
                <a:solidFill>
                  <a:schemeClr val="lt1"/>
                </a:solidFill>
                <a:latin typeface="Calibri"/>
                <a:ea typeface="Calibri"/>
                <a:cs typeface="Calibri"/>
                <a:sym typeface="Calibri"/>
              </a:rPr>
              <a:t>Technology</a:t>
            </a:r>
            <a:endParaRPr b="0" i="0" sz="15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chemeClr val="lt2"/>
              </a:buClr>
              <a:buSzPts val="1300"/>
              <a:buFont typeface="Calibri"/>
              <a:buNone/>
            </a:pPr>
            <a:r>
              <a:rPr b="0" i="0" lang="en-US" sz="1300" u="none" cap="none" strike="noStrike">
                <a:solidFill>
                  <a:schemeClr val="lt2"/>
                </a:solidFill>
                <a:latin typeface="Calibri"/>
                <a:ea typeface="Calibri"/>
                <a:cs typeface="Calibri"/>
                <a:sym typeface="Calibri"/>
              </a:rPr>
              <a:t>App, vet booking, rehab tracking</a:t>
            </a:r>
            <a:endParaRPr b="0" i="0" sz="1500" u="none" cap="none" strike="noStrike">
              <a:solidFill>
                <a:schemeClr val="dk1"/>
              </a:solidFill>
              <a:latin typeface="Calibri"/>
              <a:ea typeface="Calibri"/>
              <a:cs typeface="Calibri"/>
              <a:sym typeface="Calibri"/>
            </a:endParaRPr>
          </a:p>
        </p:txBody>
      </p:sp>
      <p:sp>
        <p:nvSpPr>
          <p:cNvPr id="440" name="Google Shape;440;p19"/>
          <p:cNvSpPr/>
          <p:nvPr/>
        </p:nvSpPr>
        <p:spPr>
          <a:xfrm>
            <a:off x="5029200" y="3520440"/>
            <a:ext cx="3200400" cy="1234440"/>
          </a:xfrm>
          <a:prstGeom prst="roundRect">
            <a:avLst>
              <a:gd fmla="val 8889"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9"/>
          <p:cNvSpPr/>
          <p:nvPr/>
        </p:nvSpPr>
        <p:spPr>
          <a:xfrm>
            <a:off x="5230368" y="3867912"/>
            <a:ext cx="548640" cy="548640"/>
          </a:xfrm>
          <a:prstGeom prst="ellipse">
            <a:avLst/>
          </a:prstGeom>
          <a:solidFill>
            <a:srgbClr val="F339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andshake icon" id="442" name="Google Shape;442;p19"/>
          <p:cNvPicPr preferRelativeResize="0"/>
          <p:nvPr/>
        </p:nvPicPr>
        <p:blipFill rotWithShape="1">
          <a:blip r:embed="rId5">
            <a:alphaModFix/>
          </a:blip>
          <a:srcRect b="0" l="0" r="0" t="0"/>
          <a:stretch/>
        </p:blipFill>
        <p:spPr>
          <a:xfrm>
            <a:off x="5367528" y="4005072"/>
            <a:ext cx="274320" cy="274320"/>
          </a:xfrm>
          <a:prstGeom prst="rect">
            <a:avLst/>
          </a:prstGeom>
          <a:noFill/>
          <a:ln>
            <a:noFill/>
          </a:ln>
        </p:spPr>
      </p:pic>
      <p:sp>
        <p:nvSpPr>
          <p:cNvPr id="443" name="Google Shape;443;p19"/>
          <p:cNvSpPr txBox="1"/>
          <p:nvPr/>
        </p:nvSpPr>
        <p:spPr>
          <a:xfrm>
            <a:off x="5943600" y="3611880"/>
            <a:ext cx="214884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1" i="0" lang="en-US" sz="1500" u="none" cap="none" strike="noStrike">
                <a:solidFill>
                  <a:schemeClr val="lt1"/>
                </a:solidFill>
                <a:latin typeface="Calibri"/>
                <a:ea typeface="Calibri"/>
                <a:cs typeface="Calibri"/>
                <a:sym typeface="Calibri"/>
              </a:rPr>
              <a:t>Partnerships and supply</a:t>
            </a:r>
            <a:endParaRPr b="0" i="0" sz="15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chemeClr val="lt2"/>
              </a:buClr>
              <a:buSzPts val="1300"/>
              <a:buFont typeface="Calibri"/>
              <a:buNone/>
            </a:pPr>
            <a:r>
              <a:rPr b="0" i="0" lang="en-US" sz="1300" u="none" cap="none" strike="noStrike">
                <a:solidFill>
                  <a:schemeClr val="lt2"/>
                </a:solidFill>
                <a:latin typeface="Calibri"/>
                <a:ea typeface="Calibri"/>
                <a:cs typeface="Calibri"/>
                <a:sym typeface="Calibri"/>
              </a:rPr>
              <a:t>Stock, vets and grooming partners</a:t>
            </a:r>
            <a:endParaRPr b="0" i="0" sz="1500" u="none" cap="none" strike="noStrike">
              <a:solidFill>
                <a:schemeClr val="dk1"/>
              </a:solidFill>
              <a:latin typeface="Calibri"/>
              <a:ea typeface="Calibri"/>
              <a:cs typeface="Calibri"/>
              <a:sym typeface="Calibri"/>
            </a:endParaRPr>
          </a:p>
        </p:txBody>
      </p:sp>
      <p:sp>
        <p:nvSpPr>
          <p:cNvPr id="444" name="Google Shape;444;p19"/>
          <p:cNvSpPr/>
          <p:nvPr/>
        </p:nvSpPr>
        <p:spPr>
          <a:xfrm>
            <a:off x="8385048" y="3520440"/>
            <a:ext cx="3200400" cy="1234440"/>
          </a:xfrm>
          <a:prstGeom prst="roundRect">
            <a:avLst>
              <a:gd fmla="val 8889"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9"/>
          <p:cNvSpPr/>
          <p:nvPr/>
        </p:nvSpPr>
        <p:spPr>
          <a:xfrm>
            <a:off x="8586216" y="3867912"/>
            <a:ext cx="548640" cy="548640"/>
          </a:xfrm>
          <a:prstGeom prst="ellipse">
            <a:avLst/>
          </a:prstGeom>
          <a:solidFill>
            <a:srgbClr val="F339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 icon" id="446" name="Google Shape;446;p19"/>
          <p:cNvPicPr preferRelativeResize="0"/>
          <p:nvPr/>
        </p:nvPicPr>
        <p:blipFill rotWithShape="1">
          <a:blip r:embed="rId6">
            <a:alphaModFix/>
          </a:blip>
          <a:srcRect b="0" l="0" r="0" t="0"/>
          <a:stretch/>
        </p:blipFill>
        <p:spPr>
          <a:xfrm>
            <a:off x="8723376" y="4005072"/>
            <a:ext cx="274320" cy="274320"/>
          </a:xfrm>
          <a:prstGeom prst="rect">
            <a:avLst/>
          </a:prstGeom>
          <a:noFill/>
          <a:ln>
            <a:noFill/>
          </a:ln>
        </p:spPr>
      </p:pic>
      <p:sp>
        <p:nvSpPr>
          <p:cNvPr id="447" name="Google Shape;447;p19"/>
          <p:cNvSpPr txBox="1"/>
          <p:nvPr/>
        </p:nvSpPr>
        <p:spPr>
          <a:xfrm>
            <a:off x="9299448" y="3611880"/>
            <a:ext cx="214884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1" i="0" lang="en-US" sz="1500" u="none" cap="none" strike="noStrike">
                <a:solidFill>
                  <a:schemeClr val="lt1"/>
                </a:solidFill>
                <a:latin typeface="Calibri"/>
                <a:ea typeface="Calibri"/>
                <a:cs typeface="Calibri"/>
                <a:sym typeface="Calibri"/>
              </a:rPr>
              <a:t>Team and operations</a:t>
            </a:r>
            <a:endParaRPr b="0" i="0" sz="15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chemeClr val="lt2"/>
              </a:buClr>
              <a:buSzPts val="1300"/>
              <a:buFont typeface="Calibri"/>
              <a:buNone/>
            </a:pPr>
            <a:r>
              <a:rPr b="0" i="0" lang="en-US" sz="1300" u="none" cap="none" strike="noStrike">
                <a:solidFill>
                  <a:schemeClr val="lt2"/>
                </a:solidFill>
                <a:latin typeface="Calibri"/>
                <a:ea typeface="Calibri"/>
                <a:cs typeface="Calibri"/>
                <a:sym typeface="Calibri"/>
              </a:rPr>
              <a:t>Hiring, field ops and support</a:t>
            </a:r>
            <a:endParaRPr b="0" i="0" sz="1500" u="none" cap="none" strike="noStrike">
              <a:solidFill>
                <a:schemeClr val="dk1"/>
              </a:solidFill>
              <a:latin typeface="Calibri"/>
              <a:ea typeface="Calibri"/>
              <a:cs typeface="Calibri"/>
              <a:sym typeface="Calibri"/>
            </a:endParaRPr>
          </a:p>
        </p:txBody>
      </p:sp>
      <p:sp>
        <p:nvSpPr>
          <p:cNvPr id="448" name="Google Shape;448;p19"/>
          <p:cNvSpPr/>
          <p:nvPr/>
        </p:nvSpPr>
        <p:spPr>
          <a:xfrm>
            <a:off x="5029200" y="4892040"/>
            <a:ext cx="3200400" cy="1234440"/>
          </a:xfrm>
          <a:prstGeom prst="roundRect">
            <a:avLst>
              <a:gd fmla="val 8889"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9"/>
          <p:cNvSpPr/>
          <p:nvPr/>
        </p:nvSpPr>
        <p:spPr>
          <a:xfrm>
            <a:off x="5230368" y="5239512"/>
            <a:ext cx="548640" cy="548640"/>
          </a:xfrm>
          <a:prstGeom prst="ellipse">
            <a:avLst/>
          </a:prstGeom>
          <a:solidFill>
            <a:srgbClr val="F339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andsHelping icon" id="450" name="Google Shape;450;p19"/>
          <p:cNvPicPr preferRelativeResize="0"/>
          <p:nvPr/>
        </p:nvPicPr>
        <p:blipFill rotWithShape="1">
          <a:blip r:embed="rId7">
            <a:alphaModFix/>
          </a:blip>
          <a:srcRect b="0" l="0" r="0" t="0"/>
          <a:stretch/>
        </p:blipFill>
        <p:spPr>
          <a:xfrm>
            <a:off x="5367528" y="5376672"/>
            <a:ext cx="274320" cy="274320"/>
          </a:xfrm>
          <a:prstGeom prst="rect">
            <a:avLst/>
          </a:prstGeom>
          <a:noFill/>
          <a:ln>
            <a:noFill/>
          </a:ln>
        </p:spPr>
      </p:pic>
      <p:sp>
        <p:nvSpPr>
          <p:cNvPr id="451" name="Google Shape;451;p19"/>
          <p:cNvSpPr txBox="1"/>
          <p:nvPr/>
        </p:nvSpPr>
        <p:spPr>
          <a:xfrm>
            <a:off x="5943600" y="4983480"/>
            <a:ext cx="214884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1" i="0" lang="en-US" sz="1500" u="none" cap="none" strike="noStrike">
                <a:solidFill>
                  <a:schemeClr val="lt1"/>
                </a:solidFill>
                <a:latin typeface="Calibri"/>
                <a:ea typeface="Calibri"/>
                <a:cs typeface="Calibri"/>
                <a:sym typeface="Calibri"/>
              </a:rPr>
              <a:t>Community and NGO programmes</a:t>
            </a:r>
            <a:endParaRPr b="0" i="0" sz="15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chemeClr val="lt2"/>
              </a:buClr>
              <a:buSzPts val="1300"/>
              <a:buFont typeface="Calibri"/>
              <a:buNone/>
            </a:pPr>
            <a:r>
              <a:rPr b="0" i="0" lang="en-US" sz="1300" u="none" cap="none" strike="noStrike">
                <a:solidFill>
                  <a:schemeClr val="lt2"/>
                </a:solidFill>
                <a:latin typeface="Calibri"/>
                <a:ea typeface="Calibri"/>
                <a:cs typeface="Calibri"/>
                <a:sym typeface="Calibri"/>
              </a:rPr>
              <a:t>NGO programmes and outreach</a:t>
            </a:r>
            <a:endParaRPr b="0" i="0" sz="1500" u="none" cap="none" strike="noStrike">
              <a:solidFill>
                <a:schemeClr val="dk1"/>
              </a:solidFill>
              <a:latin typeface="Calibri"/>
              <a:ea typeface="Calibri"/>
              <a:cs typeface="Calibri"/>
              <a:sym typeface="Calibri"/>
            </a:endParaRPr>
          </a:p>
        </p:txBody>
      </p:sp>
      <p:sp>
        <p:nvSpPr>
          <p:cNvPr id="452" name="Google Shape;452;p19"/>
          <p:cNvSpPr/>
          <p:nvPr/>
        </p:nvSpPr>
        <p:spPr>
          <a:xfrm>
            <a:off x="8385048" y="4892040"/>
            <a:ext cx="3200400" cy="1234440"/>
          </a:xfrm>
          <a:prstGeom prst="roundRect">
            <a:avLst>
              <a:gd fmla="val 8889"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9"/>
          <p:cNvSpPr/>
          <p:nvPr/>
        </p:nvSpPr>
        <p:spPr>
          <a:xfrm>
            <a:off x="8586216" y="5239512"/>
            <a:ext cx="548640" cy="548640"/>
          </a:xfrm>
          <a:prstGeom prst="ellipse">
            <a:avLst/>
          </a:prstGeom>
          <a:solidFill>
            <a:srgbClr val="F3390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hieldAlt icon" id="454" name="Google Shape;454;p19"/>
          <p:cNvPicPr preferRelativeResize="0"/>
          <p:nvPr/>
        </p:nvPicPr>
        <p:blipFill rotWithShape="1">
          <a:blip r:embed="rId8">
            <a:alphaModFix/>
          </a:blip>
          <a:srcRect b="0" l="0" r="0" t="0"/>
          <a:stretch/>
        </p:blipFill>
        <p:spPr>
          <a:xfrm>
            <a:off x="8723376" y="5376672"/>
            <a:ext cx="274320" cy="274320"/>
          </a:xfrm>
          <a:prstGeom prst="rect">
            <a:avLst/>
          </a:prstGeom>
          <a:noFill/>
          <a:ln>
            <a:noFill/>
          </a:ln>
        </p:spPr>
      </p:pic>
      <p:sp>
        <p:nvSpPr>
          <p:cNvPr id="455" name="Google Shape;455;p19"/>
          <p:cNvSpPr txBox="1"/>
          <p:nvPr/>
        </p:nvSpPr>
        <p:spPr>
          <a:xfrm>
            <a:off x="9299448" y="4983480"/>
            <a:ext cx="214884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1" i="0" lang="en-US" sz="1500" u="none" cap="none" strike="noStrike">
                <a:solidFill>
                  <a:schemeClr val="lt1"/>
                </a:solidFill>
                <a:latin typeface="Calibri"/>
                <a:ea typeface="Calibri"/>
                <a:cs typeface="Calibri"/>
                <a:sym typeface="Calibri"/>
              </a:rPr>
              <a:t>Reserve</a:t>
            </a:r>
            <a:endParaRPr b="0" i="0" sz="15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chemeClr val="lt2"/>
              </a:buClr>
              <a:buSzPts val="1300"/>
              <a:buFont typeface="Calibri"/>
              <a:buNone/>
            </a:pPr>
            <a:r>
              <a:rPr b="0" i="0" lang="en-US" sz="1300" u="none" cap="none" strike="noStrike">
                <a:solidFill>
                  <a:schemeClr val="lt2"/>
                </a:solidFill>
                <a:latin typeface="Calibri"/>
                <a:ea typeface="Calibri"/>
                <a:cs typeface="Calibri"/>
                <a:sym typeface="Calibri"/>
              </a:rPr>
              <a:t>Runway buffer</a:t>
            </a:r>
            <a:endParaRPr b="0" i="0" sz="1500" u="none" cap="none" strike="noStrike">
              <a:solidFill>
                <a:schemeClr val="dk1"/>
              </a:solidFill>
              <a:latin typeface="Calibri"/>
              <a:ea typeface="Calibri"/>
              <a:cs typeface="Calibri"/>
              <a:sym typeface="Calibri"/>
            </a:endParaRPr>
          </a:p>
        </p:txBody>
      </p:sp>
      <p:sp>
        <p:nvSpPr>
          <p:cNvPr id="456" name="Google Shape;456;p19"/>
          <p:cNvSpPr txBox="1"/>
          <p:nvPr>
            <p:ph idx="4294967295" type="sldNum"/>
          </p:nvPr>
        </p:nvSpPr>
        <p:spPr>
          <a:xfrm>
            <a:off x="1097280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4"/>
                </a:solidFill>
                <a:latin typeface="Calibri"/>
                <a:ea typeface="Calibri"/>
                <a:cs typeface="Calibri"/>
                <a:sym typeface="Calibri"/>
              </a:rPr>
              <a:t>‹#›</a:t>
            </a:fld>
            <a:endParaRPr b="0" i="0" sz="1000" u="none" cap="none" strike="noStrike">
              <a:solidFill>
                <a:schemeClr val="accent4"/>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0"/>
          <p:cNvSpPr txBox="1"/>
          <p:nvPr>
            <p:ph type="title"/>
          </p:nvPr>
        </p:nvSpPr>
        <p:spPr>
          <a:xfrm>
            <a:off x="548640" y="384048"/>
            <a:ext cx="950976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Four plans, from ₹4,999 a month</a:t>
            </a:r>
            <a:endParaRPr sz="3000"/>
          </a:p>
        </p:txBody>
      </p:sp>
      <p:sp>
        <p:nvSpPr>
          <p:cNvPr id="501" name="Plan card 501"/>
          <p:cNvSpPr/>
          <p:nvPr/>
        </p:nvSpPr>
        <p:spPr>
          <a:xfrm>
            <a:off x="548640" y="1371600"/>
            <a:ext cx="2560320" cy="4251960"/>
          </a:xfrm>
          <a:prstGeom prst="roundRect">
            <a:avLst>
              <a:gd fmla="val 428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Plan text 502"/>
          <p:cNvSpPr txBox="1"/>
          <p:nvPr/>
        </p:nvSpPr>
        <p:spPr>
          <a:xfrm>
            <a:off x="822960" y="1600200"/>
            <a:ext cx="201168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u="none" cap="none" strike="noStrike">
                <a:solidFill>
                  <a:schemeClr val="accent1"/>
                </a:solidFill>
                <a:latin typeface="Calibri"/>
                <a:ea typeface="Calibri"/>
                <a:cs typeface="Calibri"/>
                <a:sym typeface="Calibri"/>
              </a:rPr>
              <a:t>PLAN 1</a:t>
            </a:r>
          </a:p>
        </p:txBody>
      </p:sp>
      <p:sp>
        <p:nvSpPr>
          <p:cNvPr id="503" name="Plan text 503"/>
          <p:cNvSpPr txBox="1"/>
          <p:nvPr/>
        </p:nvSpPr>
        <p:spPr>
          <a:xfrm>
            <a:off x="822960" y="1874520"/>
            <a:ext cx="20116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800" u="none" cap="none" strike="noStrike">
                <a:solidFill>
                  <a:schemeClr val="dk1"/>
                </a:solidFill>
                <a:latin typeface="Calibri"/>
                <a:ea typeface="Calibri"/>
                <a:cs typeface="Calibri"/>
                <a:sym typeface="Calibri"/>
              </a:rPr>
              <a:t>Basic Rehab Plan</a:t>
            </a:r>
          </a:p>
        </p:txBody>
      </p:sp>
      <p:sp>
        <p:nvSpPr>
          <p:cNvPr id="504" name="Plan text 504"/>
          <p:cNvSpPr txBox="1"/>
          <p:nvPr/>
        </p:nvSpPr>
        <p:spPr>
          <a:xfrm>
            <a:off x="822960" y="2331720"/>
            <a:ext cx="201168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u="none" cap="none" strike="noStrike">
                <a:solidFill>
                  <a:schemeClr val="accent1"/>
                </a:solidFill>
                <a:latin typeface="Calibri"/>
                <a:ea typeface="Calibri"/>
                <a:cs typeface="Calibri"/>
                <a:sym typeface="Calibri"/>
              </a:rPr>
              <a:t>₹4,999</a:t>
            </a:r>
          </a:p>
        </p:txBody>
      </p:sp>
      <p:sp>
        <p:nvSpPr>
          <p:cNvPr id="505" name="Plan text 505"/>
          <p:cNvSpPr txBox="1"/>
          <p:nvPr/>
        </p:nvSpPr>
        <p:spPr>
          <a:xfrm>
            <a:off x="822960" y="2834640"/>
            <a:ext cx="201168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u="none" cap="none" strike="noStrike">
                <a:solidFill>
                  <a:schemeClr val="accent6"/>
                </a:solidFill>
                <a:latin typeface="Calibri"/>
                <a:ea typeface="Calibri"/>
                <a:cs typeface="Calibri"/>
                <a:sym typeface="Calibri"/>
              </a:rPr>
              <a:t>per month + GST</a:t>
            </a:r>
          </a:p>
        </p:txBody>
      </p:sp>
      <p:sp>
        <p:nvSpPr>
          <p:cNvPr id="506" name="Plan text 506"/>
          <p:cNvSpPr txBox="1"/>
          <p:nvPr/>
        </p:nvSpPr>
        <p:spPr>
          <a:xfrm>
            <a:off x="822960" y="3154680"/>
            <a:ext cx="2011680" cy="228600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400"/>
              </a:spcAft>
              <a:buClr>
                <a:schemeClr val="dk1"/>
              </a:buClr>
              <a:buSzPts val="14"/>
              <a:buFont typeface="Arial"/>
              <a:buChar char="•"/>
            </a:pPr>
            <a:r>
              <a:rPr b="0" i="0" lang="en-US" sz="1400" u="none" cap="none" strike="noStrike">
                <a:solidFill>
                  <a:schemeClr val="dk1"/>
                </a:solidFill>
                <a:latin typeface="Calibri"/>
                <a:ea typeface="Calibri"/>
                <a:cs typeface="Calibri"/>
                <a:sym typeface="Calibri"/>
              </a:rPr>
              <a:t>Supplements</a:t>
            </a:r>
          </a:p>
          <a:p>
            <a:pPr indent="-228600" lvl="0" marL="228600" marR="0" rtl="0" algn="l">
              <a:spcBef>
                <a:spcPts val="0"/>
              </a:spcBef>
              <a:spcAft>
                <a:spcPts val="400"/>
              </a:spcAft>
              <a:buClr>
                <a:schemeClr val="dk1"/>
              </a:buClr>
              <a:buSzPts val="14"/>
              <a:buFont typeface="Arial"/>
              <a:buChar char="•"/>
            </a:pPr>
            <a:r>
              <a:rPr b="0" i="0" lang="en-US" sz="1400" u="none" cap="none" strike="noStrike">
                <a:solidFill>
                  <a:schemeClr val="dk1"/>
                </a:solidFill>
                <a:latin typeface="Calibri"/>
                <a:ea typeface="Calibri"/>
                <a:cs typeface="Calibri"/>
                <a:sym typeface="Calibri"/>
              </a:rPr>
              <a:t>2 grooming sessions</a:t>
            </a:r>
          </a:p>
          <a:p>
            <a:pPr indent="-228600" lvl="0" marL="228600" marR="0" rtl="0" algn="l">
              <a:spcBef>
                <a:spcPts val="0"/>
              </a:spcBef>
              <a:spcAft>
                <a:spcPts val="400"/>
              </a:spcAft>
              <a:buClr>
                <a:schemeClr val="dk1"/>
              </a:buClr>
              <a:buSzPts val="14"/>
              <a:buFont typeface="Arial"/>
              <a:buChar char="•"/>
            </a:pPr>
            <a:r>
              <a:rPr b="0" i="0" lang="en-US" sz="1400" u="none" cap="none" strike="noStrike">
                <a:solidFill>
                  <a:schemeClr val="dk1"/>
                </a:solidFill>
                <a:latin typeface="Calibri"/>
                <a:ea typeface="Calibri"/>
                <a:cs typeface="Calibri"/>
                <a:sym typeface="Calibri"/>
              </a:rPr>
              <a:t>Food discounts</a:t>
            </a:r>
          </a:p>
        </p:txBody>
      </p:sp>
      <p:sp>
        <p:nvSpPr>
          <p:cNvPr id="507" name="Plan card 507"/>
          <p:cNvSpPr/>
          <p:nvPr/>
        </p:nvSpPr>
        <p:spPr>
          <a:xfrm>
            <a:off x="3383280" y="1371600"/>
            <a:ext cx="2560320" cy="4251960"/>
          </a:xfrm>
          <a:prstGeom prst="roundRect">
            <a:avLst>
              <a:gd fmla="val 428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Plan text 508"/>
          <p:cNvSpPr txBox="1"/>
          <p:nvPr/>
        </p:nvSpPr>
        <p:spPr>
          <a:xfrm>
            <a:off x="3657600" y="1600200"/>
            <a:ext cx="201168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u="none" cap="none" strike="noStrike">
                <a:solidFill>
                  <a:schemeClr val="accent1"/>
                </a:solidFill>
                <a:latin typeface="Calibri"/>
                <a:ea typeface="Calibri"/>
                <a:cs typeface="Calibri"/>
                <a:sym typeface="Calibri"/>
              </a:rPr>
              <a:t>PLAN 2</a:t>
            </a:r>
          </a:p>
        </p:txBody>
      </p:sp>
      <p:sp>
        <p:nvSpPr>
          <p:cNvPr id="509" name="Plan text 509"/>
          <p:cNvSpPr txBox="1"/>
          <p:nvPr/>
        </p:nvSpPr>
        <p:spPr>
          <a:xfrm>
            <a:off x="3657600" y="1874520"/>
            <a:ext cx="20116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800" u="none" cap="none" strike="noStrike">
                <a:solidFill>
                  <a:schemeClr val="dk1"/>
                </a:solidFill>
                <a:latin typeface="Calibri"/>
                <a:ea typeface="Calibri"/>
                <a:cs typeface="Calibri"/>
                <a:sym typeface="Calibri"/>
              </a:rPr>
              <a:t>Core Plan</a:t>
            </a:r>
          </a:p>
        </p:txBody>
      </p:sp>
      <p:sp>
        <p:nvSpPr>
          <p:cNvPr id="510" name="Plan text 510"/>
          <p:cNvSpPr txBox="1"/>
          <p:nvPr/>
        </p:nvSpPr>
        <p:spPr>
          <a:xfrm>
            <a:off x="3657600" y="2331720"/>
            <a:ext cx="201168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u="none" cap="none" strike="noStrike">
                <a:solidFill>
                  <a:schemeClr val="accent6"/>
                </a:solidFill>
                <a:latin typeface="Calibri"/>
                <a:ea typeface="Calibri"/>
                <a:cs typeface="Calibri"/>
                <a:sym typeface="Calibri"/>
              </a:rPr>
              <a:t>₹ TBD</a:t>
            </a:r>
          </a:p>
        </p:txBody>
      </p:sp>
      <p:sp>
        <p:nvSpPr>
          <p:cNvPr id="511" name="Plan text 511"/>
          <p:cNvSpPr txBox="1"/>
          <p:nvPr/>
        </p:nvSpPr>
        <p:spPr>
          <a:xfrm>
            <a:off x="3657600" y="2834640"/>
            <a:ext cx="201168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u="none" cap="none" strike="noStrike">
                <a:solidFill>
                  <a:schemeClr val="accent6"/>
                </a:solidFill>
                <a:latin typeface="Calibri"/>
                <a:ea typeface="Calibri"/>
                <a:cs typeface="Calibri"/>
                <a:sym typeface="Calibri"/>
              </a:rPr>
              <a:t>price to be finalised</a:t>
            </a:r>
          </a:p>
        </p:txBody>
      </p:sp>
      <p:sp>
        <p:nvSpPr>
          <p:cNvPr id="512" name="Plan text 512"/>
          <p:cNvSpPr txBox="1"/>
          <p:nvPr/>
        </p:nvSpPr>
        <p:spPr>
          <a:xfrm>
            <a:off x="3657600" y="3154680"/>
            <a:ext cx="2011680" cy="228600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400"/>
              </a:spcAft>
              <a:buClr>
                <a:schemeClr val="dk1"/>
              </a:buClr>
              <a:buSzPts val="14"/>
              <a:buFont typeface="Arial"/>
              <a:buChar char="•"/>
            </a:pPr>
            <a:r>
              <a:rPr b="0" i="0" lang="en-US" sz="1400" u="none" cap="none" strike="noStrike">
                <a:solidFill>
                  <a:schemeClr val="dk1"/>
                </a:solidFill>
                <a:latin typeface="Calibri"/>
                <a:ea typeface="Calibri"/>
                <a:cs typeface="Calibri"/>
                <a:sym typeface="Calibri"/>
              </a:rPr>
              <a:t>Vet consultation</a:t>
            </a:r>
          </a:p>
          <a:p>
            <a:pPr indent="-228600" lvl="0" marL="228600" marR="0" rtl="0" algn="l">
              <a:spcBef>
                <a:spcPts val="0"/>
              </a:spcBef>
              <a:spcAft>
                <a:spcPts val="400"/>
              </a:spcAft>
              <a:buClr>
                <a:schemeClr val="dk1"/>
              </a:buClr>
              <a:buSzPts val="14"/>
              <a:buFont typeface="Arial"/>
              <a:buChar char="•"/>
            </a:pPr>
            <a:r>
              <a:rPr b="0" i="0" lang="en-US" sz="1400" u="none" cap="none" strike="noStrike">
                <a:solidFill>
                  <a:schemeClr val="dk1"/>
                </a:solidFill>
                <a:latin typeface="Calibri"/>
                <a:ea typeface="Calibri"/>
                <a:cs typeface="Calibri"/>
                <a:sym typeface="Calibri"/>
              </a:rPr>
              <a:t>Laser therapy</a:t>
            </a:r>
          </a:p>
          <a:p>
            <a:pPr indent="-228600" lvl="0" marL="228600" marR="0" rtl="0" algn="l">
              <a:spcBef>
                <a:spcPts val="0"/>
              </a:spcBef>
              <a:spcAft>
                <a:spcPts val="400"/>
              </a:spcAft>
              <a:buClr>
                <a:schemeClr val="dk1"/>
              </a:buClr>
              <a:buSzPts val="14"/>
              <a:buFont typeface="Arial"/>
              <a:buChar char="•"/>
            </a:pPr>
            <a:r>
              <a:rPr b="0" i="0" lang="en-US" sz="1400" u="none" cap="none" strike="noStrike">
                <a:solidFill>
                  <a:schemeClr val="dk1"/>
                </a:solidFill>
                <a:latin typeface="Calibri"/>
                <a:ea typeface="Calibri"/>
                <a:cs typeface="Calibri"/>
                <a:sym typeface="Calibri"/>
              </a:rPr>
              <a:t>Vet and food discounts</a:t>
            </a:r>
          </a:p>
          <a:p>
            <a:pPr indent="-228600" lvl="0" marL="228600" marR="0" rtl="0" algn="l">
              <a:spcBef>
                <a:spcPts val="0"/>
              </a:spcBef>
              <a:spcAft>
                <a:spcPts val="400"/>
              </a:spcAft>
              <a:buClr>
                <a:schemeClr val="dk1"/>
              </a:buClr>
              <a:buSzPts val="14"/>
              <a:buFont typeface="Arial"/>
              <a:buChar char="•"/>
            </a:pPr>
            <a:r>
              <a:rPr b="0" i="0" lang="en-US" sz="1400" u="none" cap="none" strike="noStrike">
                <a:solidFill>
                  <a:schemeClr val="dk1"/>
                </a:solidFill>
                <a:latin typeface="Calibri"/>
                <a:ea typeface="Calibri"/>
                <a:cs typeface="Calibri"/>
                <a:sym typeface="Calibri"/>
              </a:rPr>
              <a:t>Supplements</a:t>
            </a:r>
          </a:p>
          <a:p>
            <a:pPr indent="-228600" lvl="0" marL="228600" marR="0" rtl="0" algn="l">
              <a:spcBef>
                <a:spcPts val="0"/>
              </a:spcBef>
              <a:spcAft>
                <a:spcPts val="400"/>
              </a:spcAft>
              <a:buClr>
                <a:schemeClr val="dk1"/>
              </a:buClr>
              <a:buSzPts val="14"/>
              <a:buFont typeface="Arial"/>
              <a:buChar char="•"/>
            </a:pPr>
            <a:r>
              <a:rPr b="0" i="0" lang="en-US" sz="1400" u="none" cap="none" strike="noStrike">
                <a:solidFill>
                  <a:schemeClr val="dk1"/>
                </a:solidFill>
                <a:latin typeface="Calibri"/>
                <a:ea typeface="Calibri"/>
                <a:cs typeface="Calibri"/>
                <a:sym typeface="Calibri"/>
              </a:rPr>
              <a:t>2 grooming sessions</a:t>
            </a:r>
          </a:p>
        </p:txBody>
      </p:sp>
      <p:sp>
        <p:nvSpPr>
          <p:cNvPr id="513" name="Plan card 513"/>
          <p:cNvSpPr/>
          <p:nvPr/>
        </p:nvSpPr>
        <p:spPr>
          <a:xfrm>
            <a:off x="6217920" y="1371600"/>
            <a:ext cx="2560320" cy="4251960"/>
          </a:xfrm>
          <a:prstGeom prst="roundRect">
            <a:avLst>
              <a:gd fmla="val 4286"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Plan text 514"/>
          <p:cNvSpPr txBox="1"/>
          <p:nvPr/>
        </p:nvSpPr>
        <p:spPr>
          <a:xfrm>
            <a:off x="6492240" y="1600200"/>
            <a:ext cx="201168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u="none" cap="none" strike="noStrike">
                <a:solidFill>
                  <a:schemeClr val="accent1"/>
                </a:solidFill>
                <a:latin typeface="Calibri"/>
                <a:ea typeface="Calibri"/>
                <a:cs typeface="Calibri"/>
                <a:sym typeface="Calibri"/>
              </a:rPr>
              <a:t>PLAN 3</a:t>
            </a:r>
          </a:p>
        </p:txBody>
      </p:sp>
      <p:sp>
        <p:nvSpPr>
          <p:cNvPr id="515" name="Plan text 515"/>
          <p:cNvSpPr txBox="1"/>
          <p:nvPr/>
        </p:nvSpPr>
        <p:spPr>
          <a:xfrm>
            <a:off x="6492240" y="1874520"/>
            <a:ext cx="20116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800" u="none" cap="none" strike="noStrike">
                <a:solidFill>
                  <a:schemeClr val="dk1"/>
                </a:solidFill>
                <a:latin typeface="Calibri"/>
                <a:ea typeface="Calibri"/>
                <a:cs typeface="Calibri"/>
                <a:sym typeface="Calibri"/>
              </a:rPr>
              <a:t>Intensive Rehab Plan</a:t>
            </a:r>
          </a:p>
        </p:txBody>
      </p:sp>
      <p:sp>
        <p:nvSpPr>
          <p:cNvPr id="516" name="Plan text 516"/>
          <p:cNvSpPr txBox="1"/>
          <p:nvPr/>
        </p:nvSpPr>
        <p:spPr>
          <a:xfrm>
            <a:off x="6492240" y="2331720"/>
            <a:ext cx="201168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u="none" cap="none" strike="noStrike">
                <a:solidFill>
                  <a:schemeClr val="accent6"/>
                </a:solidFill>
                <a:latin typeface="Calibri"/>
                <a:ea typeface="Calibri"/>
                <a:cs typeface="Calibri"/>
                <a:sym typeface="Calibri"/>
              </a:rPr>
              <a:t>₹ TBD</a:t>
            </a:r>
          </a:p>
        </p:txBody>
      </p:sp>
      <p:sp>
        <p:nvSpPr>
          <p:cNvPr id="517" name="Plan text 517"/>
          <p:cNvSpPr txBox="1"/>
          <p:nvPr/>
        </p:nvSpPr>
        <p:spPr>
          <a:xfrm>
            <a:off x="6492240" y="2834640"/>
            <a:ext cx="201168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u="none" cap="none" strike="noStrike">
                <a:solidFill>
                  <a:schemeClr val="accent6"/>
                </a:solidFill>
                <a:latin typeface="Calibri"/>
                <a:ea typeface="Calibri"/>
                <a:cs typeface="Calibri"/>
                <a:sym typeface="Calibri"/>
              </a:rPr>
              <a:t>price to be finalised</a:t>
            </a:r>
          </a:p>
        </p:txBody>
      </p:sp>
      <p:sp>
        <p:nvSpPr>
          <p:cNvPr id="518" name="Plan text 518"/>
          <p:cNvSpPr txBox="1"/>
          <p:nvPr/>
        </p:nvSpPr>
        <p:spPr>
          <a:xfrm>
            <a:off x="6492240" y="3154680"/>
            <a:ext cx="2011680" cy="228600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400"/>
              </a:spcAft>
              <a:buClr>
                <a:schemeClr val="dk1"/>
              </a:buClr>
              <a:buSzPts val="14"/>
              <a:buFont typeface="Arial"/>
              <a:buChar char="•"/>
            </a:pPr>
            <a:r>
              <a:rPr b="0" i="0" lang="en-US" sz="1400" u="none" cap="none" strike="noStrike">
                <a:solidFill>
                  <a:schemeClr val="dk1"/>
                </a:solidFill>
                <a:latin typeface="Calibri"/>
                <a:ea typeface="Calibri"/>
                <a:cs typeface="Calibri"/>
                <a:sym typeface="Calibri"/>
              </a:rPr>
              <a:t>Wheelchair, limited time</a:t>
            </a:r>
          </a:p>
          <a:p>
            <a:pPr indent="-228600" lvl="0" marL="228600" marR="0" rtl="0" algn="l">
              <a:spcBef>
                <a:spcPts val="0"/>
              </a:spcBef>
              <a:spcAft>
                <a:spcPts val="400"/>
              </a:spcAft>
              <a:buClr>
                <a:schemeClr val="dk1"/>
              </a:buClr>
              <a:buSzPts val="14"/>
              <a:buFont typeface="Arial"/>
              <a:buChar char="•"/>
            </a:pPr>
            <a:r>
              <a:rPr b="0" i="0" lang="en-US" sz="1400" u="none" cap="none" strike="noStrike">
                <a:solidFill>
                  <a:schemeClr val="dk1"/>
                </a:solidFill>
                <a:latin typeface="Calibri"/>
                <a:ea typeface="Calibri"/>
                <a:cs typeface="Calibri"/>
                <a:sym typeface="Calibri"/>
              </a:rPr>
              <a:t>Vet consultations</a:t>
            </a:r>
          </a:p>
          <a:p>
            <a:pPr indent="-228600" lvl="0" marL="228600" marR="0" rtl="0" algn="l">
              <a:spcBef>
                <a:spcPts val="0"/>
              </a:spcBef>
              <a:spcAft>
                <a:spcPts val="400"/>
              </a:spcAft>
              <a:buClr>
                <a:schemeClr val="dk1"/>
              </a:buClr>
              <a:buSzPts val="14"/>
              <a:buFont typeface="Arial"/>
              <a:buChar char="•"/>
            </a:pPr>
            <a:r>
              <a:rPr b="0" i="0" lang="en-US" sz="1400" u="none" cap="none" strike="noStrike">
                <a:solidFill>
                  <a:schemeClr val="dk1"/>
                </a:solidFill>
                <a:latin typeface="Calibri"/>
                <a:ea typeface="Calibri"/>
                <a:cs typeface="Calibri"/>
                <a:sym typeface="Calibri"/>
              </a:rPr>
              <a:t>Vet and food discounts</a:t>
            </a:r>
          </a:p>
          <a:p>
            <a:pPr indent="-228600" lvl="0" marL="228600" marR="0" rtl="0" algn="l">
              <a:spcBef>
                <a:spcPts val="0"/>
              </a:spcBef>
              <a:spcAft>
                <a:spcPts val="400"/>
              </a:spcAft>
              <a:buClr>
                <a:schemeClr val="dk1"/>
              </a:buClr>
              <a:buSzPts val="14"/>
              <a:buFont typeface="Arial"/>
              <a:buChar char="•"/>
            </a:pPr>
            <a:r>
              <a:rPr b="0" i="0" lang="en-US" sz="1400" u="none" cap="none" strike="noStrike">
                <a:solidFill>
                  <a:schemeClr val="dk1"/>
                </a:solidFill>
                <a:latin typeface="Calibri"/>
                <a:ea typeface="Calibri"/>
                <a:cs typeface="Calibri"/>
                <a:sym typeface="Calibri"/>
              </a:rPr>
              <a:t>Supplements</a:t>
            </a:r>
          </a:p>
          <a:p>
            <a:pPr indent="-228600" lvl="0" marL="228600" marR="0" rtl="0" algn="l">
              <a:spcBef>
                <a:spcPts val="0"/>
              </a:spcBef>
              <a:spcAft>
                <a:spcPts val="400"/>
              </a:spcAft>
              <a:buClr>
                <a:schemeClr val="dk1"/>
              </a:buClr>
              <a:buSzPts val="14"/>
              <a:buFont typeface="Arial"/>
              <a:buChar char="•"/>
            </a:pPr>
            <a:r>
              <a:rPr b="0" i="0" lang="en-US" sz="1400" u="none" cap="none" strike="noStrike">
                <a:solidFill>
                  <a:schemeClr val="dk1"/>
                </a:solidFill>
                <a:latin typeface="Calibri"/>
                <a:ea typeface="Calibri"/>
                <a:cs typeface="Calibri"/>
                <a:sym typeface="Calibri"/>
              </a:rPr>
              <a:t>2 grooming sessions</a:t>
            </a:r>
          </a:p>
          <a:p>
            <a:pPr indent="-228600" lvl="0" marL="228600" marR="0" rtl="0" algn="l">
              <a:spcBef>
                <a:spcPts val="0"/>
              </a:spcBef>
              <a:spcAft>
                <a:spcPts val="400"/>
              </a:spcAft>
              <a:buClr>
                <a:schemeClr val="dk1"/>
              </a:buClr>
              <a:buSzPts val="14"/>
              <a:buFont typeface="Arial"/>
              <a:buChar char="•"/>
            </a:pPr>
            <a:r>
              <a:rPr b="0" i="0" lang="en-US" sz="1400" u="none" cap="none" strike="noStrike">
                <a:solidFill>
                  <a:schemeClr val="dk1"/>
                </a:solidFill>
                <a:latin typeface="Calibri"/>
                <a:ea typeface="Calibri"/>
                <a:cs typeface="Calibri"/>
                <a:sym typeface="Calibri"/>
              </a:rPr>
              <a:t>Basic medicated food</a:t>
            </a:r>
          </a:p>
          <a:p>
            <a:pPr indent="-228600" lvl="0" marL="228600" marR="0" rtl="0" algn="l">
              <a:spcBef>
                <a:spcPts val="0"/>
              </a:spcBef>
              <a:spcAft>
                <a:spcPts val="400"/>
              </a:spcAft>
              <a:buClr>
                <a:schemeClr val="dk1"/>
              </a:buClr>
              <a:buSzPts val="14"/>
              <a:buFont typeface="Arial"/>
              <a:buChar char="•"/>
            </a:pPr>
            <a:r>
              <a:rPr b="0" i="0" lang="en-US" sz="1400" u="none" cap="none" strike="noStrike">
                <a:solidFill>
                  <a:schemeClr val="dk1"/>
                </a:solidFill>
                <a:latin typeface="Calibri"/>
                <a:ea typeface="Calibri"/>
                <a:cs typeface="Calibri"/>
                <a:sym typeface="Calibri"/>
              </a:rPr>
              <a:t>Exclusive laser access</a:t>
            </a:r>
          </a:p>
        </p:txBody>
      </p:sp>
      <p:sp>
        <p:nvSpPr>
          <p:cNvPr id="519" name="Plan card 519"/>
          <p:cNvSpPr/>
          <p:nvPr/>
        </p:nvSpPr>
        <p:spPr>
          <a:xfrm>
            <a:off x="9052560" y="1371600"/>
            <a:ext cx="2560320" cy="4251960"/>
          </a:xfrm>
          <a:prstGeom prst="roundRect">
            <a:avLst>
              <a:gd fmla="val 4286"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Plan text 520"/>
          <p:cNvSpPr txBox="1"/>
          <p:nvPr/>
        </p:nvSpPr>
        <p:spPr>
          <a:xfrm>
            <a:off x="9326880" y="1600200"/>
            <a:ext cx="201168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u="none" cap="none" strike="noStrike">
                <a:solidFill>
                  <a:schemeClr val="lt1"/>
                </a:solidFill>
                <a:latin typeface="Calibri"/>
                <a:ea typeface="Calibri"/>
                <a:cs typeface="Calibri"/>
                <a:sym typeface="Calibri"/>
              </a:rPr>
              <a:t>PLAN 4</a:t>
            </a:r>
          </a:p>
        </p:txBody>
      </p:sp>
      <p:sp>
        <p:nvSpPr>
          <p:cNvPr id="521" name="Plan text 521"/>
          <p:cNvSpPr txBox="1"/>
          <p:nvPr/>
        </p:nvSpPr>
        <p:spPr>
          <a:xfrm>
            <a:off x="9326880" y="1874520"/>
            <a:ext cx="20116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800" u="none" cap="none" strike="noStrike">
                <a:solidFill>
                  <a:schemeClr val="lt1"/>
                </a:solidFill>
                <a:latin typeface="Calibri"/>
                <a:ea typeface="Calibri"/>
                <a:cs typeface="Calibri"/>
                <a:sym typeface="Calibri"/>
              </a:rPr>
              <a:t>Ultimate Plan</a:t>
            </a:r>
          </a:p>
        </p:txBody>
      </p:sp>
      <p:sp>
        <p:nvSpPr>
          <p:cNvPr id="522" name="Plan text 522"/>
          <p:cNvSpPr txBox="1"/>
          <p:nvPr/>
        </p:nvSpPr>
        <p:spPr>
          <a:xfrm>
            <a:off x="9326880" y="2331720"/>
            <a:ext cx="201168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800" u="none" cap="none" strike="noStrike">
                <a:solidFill>
                  <a:schemeClr val="lt1"/>
                </a:solidFill>
                <a:latin typeface="Calibri"/>
                <a:ea typeface="Calibri"/>
                <a:cs typeface="Calibri"/>
                <a:sym typeface="Calibri"/>
              </a:rPr>
              <a:t>₹ TBD</a:t>
            </a:r>
          </a:p>
        </p:txBody>
      </p:sp>
      <p:sp>
        <p:nvSpPr>
          <p:cNvPr id="523" name="Plan text 523"/>
          <p:cNvSpPr txBox="1"/>
          <p:nvPr/>
        </p:nvSpPr>
        <p:spPr>
          <a:xfrm>
            <a:off x="9326880" y="2834640"/>
            <a:ext cx="201168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u="none" cap="none" strike="noStrike">
                <a:solidFill>
                  <a:schemeClr val="lt1"/>
                </a:solidFill>
                <a:latin typeface="Calibri"/>
                <a:ea typeface="Calibri"/>
                <a:cs typeface="Calibri"/>
                <a:sym typeface="Calibri"/>
              </a:rPr>
              <a:t>price to be finalised</a:t>
            </a:r>
          </a:p>
        </p:txBody>
      </p:sp>
      <p:sp>
        <p:nvSpPr>
          <p:cNvPr id="524" name="Plan text 524"/>
          <p:cNvSpPr txBox="1"/>
          <p:nvPr/>
        </p:nvSpPr>
        <p:spPr>
          <a:xfrm>
            <a:off x="9326880" y="3154680"/>
            <a:ext cx="2011680" cy="228600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400"/>
              </a:spcAft>
              <a:buClr>
                <a:schemeClr val="lt1"/>
              </a:buClr>
              <a:buSzPts val="14"/>
              <a:buFont typeface="Arial"/>
              <a:buChar char="•"/>
            </a:pPr>
            <a:r>
              <a:rPr b="0" i="0" lang="en-US" sz="1400" u="none" cap="none" strike="noStrike">
                <a:solidFill>
                  <a:schemeClr val="lt1"/>
                </a:solidFill>
                <a:latin typeface="Calibri"/>
                <a:ea typeface="Calibri"/>
                <a:cs typeface="Calibri"/>
                <a:sym typeface="Calibri"/>
              </a:rPr>
              <a:t>Wheelchair included</a:t>
            </a:r>
          </a:p>
          <a:p>
            <a:pPr indent="-228600" lvl="0" marL="228600" marR="0" rtl="0" algn="l">
              <a:spcBef>
                <a:spcPts val="0"/>
              </a:spcBef>
              <a:spcAft>
                <a:spcPts val="400"/>
              </a:spcAft>
              <a:buClr>
                <a:schemeClr val="lt1"/>
              </a:buClr>
              <a:buSzPts val="14"/>
              <a:buFont typeface="Arial"/>
              <a:buChar char="•"/>
            </a:pPr>
            <a:r>
              <a:rPr b="0" i="0" lang="en-US" sz="1400" u="none" cap="none" strike="noStrike">
                <a:solidFill>
                  <a:schemeClr val="lt1"/>
                </a:solidFill>
                <a:latin typeface="Calibri"/>
                <a:ea typeface="Calibri"/>
                <a:cs typeface="Calibri"/>
                <a:sym typeface="Calibri"/>
              </a:rPr>
              <a:t>Everything in Intensive</a:t>
            </a:r>
          </a:p>
          <a:p>
            <a:pPr indent="-228600" lvl="0" marL="228600" marR="0" rtl="0" algn="l">
              <a:spcBef>
                <a:spcPts val="0"/>
              </a:spcBef>
              <a:spcAft>
                <a:spcPts val="400"/>
              </a:spcAft>
              <a:buClr>
                <a:schemeClr val="lt1"/>
              </a:buClr>
              <a:buSzPts val="14"/>
              <a:buFont typeface="Arial"/>
              <a:buChar char="•"/>
            </a:pPr>
            <a:r>
              <a:rPr b="0" i="0" lang="en-US" sz="1400" u="none" cap="none" strike="noStrike">
                <a:solidFill>
                  <a:schemeClr val="lt1"/>
                </a:solidFill>
                <a:latin typeface="Calibri"/>
                <a:ea typeface="Calibri"/>
                <a:cs typeface="Calibri"/>
                <a:sym typeface="Calibri"/>
              </a:rPr>
              <a:t>Physio, laser and hydro</a:t>
            </a:r>
          </a:p>
          <a:p>
            <a:pPr indent="-228600" lvl="0" marL="228600" marR="0" rtl="0" algn="l">
              <a:spcBef>
                <a:spcPts val="0"/>
              </a:spcBef>
              <a:spcAft>
                <a:spcPts val="400"/>
              </a:spcAft>
              <a:buClr>
                <a:schemeClr val="lt1"/>
              </a:buClr>
              <a:buSzPts val="14"/>
              <a:buFont typeface="Arial"/>
              <a:buChar char="•"/>
            </a:pPr>
            <a:r>
              <a:rPr b="0" i="0" lang="en-US" sz="1400" u="none" cap="none" strike="noStrike">
                <a:solidFill>
                  <a:schemeClr val="lt1"/>
                </a:solidFill>
                <a:latin typeface="Calibri"/>
                <a:ea typeface="Calibri"/>
                <a:cs typeface="Calibri"/>
                <a:sym typeface="Calibri"/>
              </a:rPr>
              <a:t>Advance vet consultation</a:t>
            </a:r>
          </a:p>
          <a:p>
            <a:pPr indent="-228600" lvl="0" marL="228600" marR="0" rtl="0" algn="l">
              <a:spcBef>
                <a:spcPts val="0"/>
              </a:spcBef>
              <a:spcAft>
                <a:spcPts val="400"/>
              </a:spcAft>
              <a:buClr>
                <a:schemeClr val="lt1"/>
              </a:buClr>
              <a:buSzPts val="14"/>
              <a:buFont typeface="Arial"/>
              <a:buChar char="•"/>
            </a:pPr>
            <a:r>
              <a:rPr b="0" i="0" lang="en-US" sz="1400" u="none" cap="none" strike="noStrike">
                <a:solidFill>
                  <a:schemeClr val="lt1"/>
                </a:solidFill>
                <a:latin typeface="Calibri"/>
                <a:ea typeface="Calibri"/>
                <a:cs typeface="Calibri"/>
                <a:sym typeface="Calibri"/>
              </a:rPr>
              <a:t>Pharma supplements</a:t>
            </a:r>
          </a:p>
          <a:p>
            <a:pPr indent="-228600" lvl="0" marL="228600" marR="0" rtl="0" algn="l">
              <a:spcBef>
                <a:spcPts val="0"/>
              </a:spcBef>
              <a:spcAft>
                <a:spcPts val="400"/>
              </a:spcAft>
              <a:buClr>
                <a:schemeClr val="lt1"/>
              </a:buClr>
              <a:buSzPts val="14"/>
              <a:buFont typeface="Arial"/>
              <a:buChar char="•"/>
            </a:pPr>
            <a:r>
              <a:rPr b="0" i="0" lang="en-US" sz="1400" u="none" cap="none" strike="noStrike">
                <a:solidFill>
                  <a:schemeClr val="lt1"/>
                </a:solidFill>
                <a:latin typeface="Calibri"/>
                <a:ea typeface="Calibri"/>
                <a:cs typeface="Calibri"/>
                <a:sym typeface="Calibri"/>
              </a:rPr>
              <a:t>Advance medicated food</a:t>
            </a:r>
          </a:p>
        </p:txBody>
      </p:sp>
      <p:sp>
        <p:nvSpPr>
          <p:cNvPr id="525" name="Plan text 525"/>
          <p:cNvSpPr txBox="1"/>
          <p:nvPr/>
        </p:nvSpPr>
        <p:spPr>
          <a:xfrm>
            <a:off x="548640" y="5852160"/>
            <a:ext cx="11064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000" u="none" cap="none" strike="noStrike">
                <a:solidFill>
                  <a:schemeClr val="dk2"/>
                </a:solidFill>
                <a:latin typeface="Calibri"/>
                <a:ea typeface="Calibri"/>
                <a:cs typeface="Calibri"/>
                <a:sym typeface="Calibri"/>
              </a:rPr>
              <a:t>Every plan includes supplements and 2 grooming sessions. Each tier adds more care.</a:t>
            </a:r>
          </a:p>
        </p:txBody>
      </p:sp>
      <p:sp>
        <p:nvSpPr>
          <p:cNvPr id="176" name="Google Shape;176;p10"/>
          <p:cNvSpPr txBox="1"/>
          <p:nvPr>
            <p:ph idx="4294967295" type="sldNum"/>
          </p:nvPr>
        </p:nvSpPr>
        <p:spPr>
          <a:xfrm>
            <a:off x="1097280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ResQ PAWS">
  <a:themeElements>
    <a:clrScheme name="ResQ PAWS">
      <a:dk1>
        <a:srgbClr val="15123D"/>
      </a:dk1>
      <a:lt1>
        <a:srgbClr val="FFFFFF"/>
      </a:lt1>
      <a:dk2>
        <a:srgbClr val="2F2A72"/>
      </a:dk2>
      <a:lt2>
        <a:srgbClr val="F3F1FA"/>
      </a:lt2>
      <a:accent1>
        <a:srgbClr val="F3390A"/>
      </a:accent1>
      <a:accent2>
        <a:srgbClr val="2F2A72"/>
      </a:accent2>
      <a:accent3>
        <a:srgbClr val="FA9348"/>
      </a:accent3>
      <a:accent4>
        <a:srgbClr val="8E86C9"/>
      </a:accent4>
      <a:accent5>
        <a:srgbClr val="FFE6DA"/>
      </a:accent5>
      <a:accent6>
        <a:srgbClr val="5B5594"/>
      </a:accent6>
      <a:hlink>
        <a:srgbClr val="F3390A"/>
      </a:hlink>
      <a:folHlink>
        <a:srgbClr val="5B5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sQ PAWS">
  <a:themeElements>
    <a:clrScheme name="ResQ PAWS">
      <a:dk1>
        <a:srgbClr val="15123D"/>
      </a:dk1>
      <a:lt1>
        <a:srgbClr val="FFFFFF"/>
      </a:lt1>
      <a:dk2>
        <a:srgbClr val="2F2A72"/>
      </a:dk2>
      <a:lt2>
        <a:srgbClr val="F3F1FA"/>
      </a:lt2>
      <a:accent1>
        <a:srgbClr val="F3390A"/>
      </a:accent1>
      <a:accent2>
        <a:srgbClr val="2F2A72"/>
      </a:accent2>
      <a:accent3>
        <a:srgbClr val="FA9348"/>
      </a:accent3>
      <a:accent4>
        <a:srgbClr val="8E86C9"/>
      </a:accent4>
      <a:accent5>
        <a:srgbClr val="FFE6DA"/>
      </a:accent5>
      <a:accent6>
        <a:srgbClr val="5B5594"/>
      </a:accent6>
      <a:hlink>
        <a:srgbClr val="F3390A"/>
      </a:hlink>
      <a:folHlink>
        <a:srgbClr val="5B5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